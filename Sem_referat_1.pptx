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97" r:id="rId4"/>
    <p:sldId id="259" r:id="rId5"/>
    <p:sldId id="261" r:id="rId6"/>
    <p:sldId id="263" r:id="rId7"/>
    <p:sldId id="265" r:id="rId8"/>
    <p:sldId id="264" r:id="rId9"/>
    <p:sldId id="298" r:id="rId10"/>
    <p:sldId id="266" r:id="rId11"/>
    <p:sldId id="267" r:id="rId12"/>
    <p:sldId id="268" r:id="rId13"/>
    <p:sldId id="270" r:id="rId14"/>
    <p:sldId id="269" r:id="rId15"/>
    <p:sldId id="272" r:id="rId16"/>
    <p:sldId id="271" r:id="rId17"/>
    <p:sldId id="273" r:id="rId18"/>
    <p:sldId id="274" r:id="rId19"/>
    <p:sldId id="275" r:id="rId20"/>
    <p:sldId id="277" r:id="rId21"/>
    <p:sldId id="276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2" r:id="rId35"/>
    <p:sldId id="293" r:id="rId36"/>
    <p:sldId id="291" r:id="rId37"/>
    <p:sldId id="294" r:id="rId38"/>
    <p:sldId id="295" r:id="rId39"/>
    <p:sldId id="296" r:id="rId4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0BA1EDBB-0EDF-4DA7-AD3A-4B28F6F33B3D}">
          <p14:sldIdLst>
            <p14:sldId id="257"/>
            <p14:sldId id="258"/>
            <p14:sldId id="297"/>
            <p14:sldId id="259"/>
            <p14:sldId id="261"/>
            <p14:sldId id="263"/>
            <p14:sldId id="265"/>
            <p14:sldId id="264"/>
            <p14:sldId id="298"/>
            <p14:sldId id="266"/>
            <p14:sldId id="267"/>
            <p14:sldId id="268"/>
            <p14:sldId id="270"/>
            <p14:sldId id="269"/>
            <p14:sldId id="272"/>
            <p14:sldId id="271"/>
            <p14:sldId id="273"/>
            <p14:sldId id="274"/>
            <p14:sldId id="275"/>
            <p14:sldId id="277"/>
            <p14:sldId id="276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2"/>
            <p14:sldId id="293"/>
            <p14:sldId id="291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2A2D1-7017-458D-DB7D-228FDD9313C9}" v="145" dt="2026-03-17T18:33:23.752"/>
    <p1510:client id="{A4D95D50-6034-0D92-BD2F-2EC708682BBF}" v="29" dt="2026-03-18T13:44:41.152"/>
    <p1510:client id="{B4788D05-9D55-9AB8-7248-535B1CBB77EF}" v="2084" dt="2026-03-18T12:46:43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9E48D3-543C-4D76-B293-FF0E37F23A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5646D5-D655-4890-90EC-0AB312EFED2F}">
      <dgm:prSet/>
      <dgm:spPr/>
      <dgm:t>
        <a:bodyPr/>
        <a:lstStyle/>
        <a:p>
          <a:r>
            <a:rPr lang="pl-PL"/>
            <a:t>możliwość interakcji między użytkownikami i organizacjami oraz system ocen i rekomendacji, dzięki czemu każdy będzie wiedział, kto jest rzetelny, a które działania wymagają poprawy.</a:t>
          </a:r>
          <a:endParaRPr lang="en-US"/>
        </a:p>
      </dgm:t>
    </dgm:pt>
    <dgm:pt modelId="{5BBF73CA-D9D6-471B-B073-2D3CC9E71963}" type="parTrans" cxnId="{7A5C06CF-5EE2-4220-88F1-7058947A4F7B}">
      <dgm:prSet/>
      <dgm:spPr/>
      <dgm:t>
        <a:bodyPr/>
        <a:lstStyle/>
        <a:p>
          <a:endParaRPr lang="en-US"/>
        </a:p>
      </dgm:t>
    </dgm:pt>
    <dgm:pt modelId="{0334E6C0-FE1A-4EE6-8CE2-2B89266B5ED9}" type="sibTrans" cxnId="{7A5C06CF-5EE2-4220-88F1-7058947A4F7B}">
      <dgm:prSet/>
      <dgm:spPr/>
      <dgm:t>
        <a:bodyPr/>
        <a:lstStyle/>
        <a:p>
          <a:endParaRPr lang="en-US"/>
        </a:p>
      </dgm:t>
    </dgm:pt>
    <dgm:pt modelId="{D4FA76D3-CF22-4262-86E4-EEBCD89ED3A9}">
      <dgm:prSet/>
      <dgm:spPr/>
      <dgm:t>
        <a:bodyPr/>
        <a:lstStyle/>
        <a:p>
          <a:r>
            <a:rPr lang="pl-PL"/>
            <a:t>nowoczesny wygląd i intuicyjną nawigację, aby łatwo było znaleźć interesujące oferty i zachęcić użytkowników do częstszego korzystania z platformy.</a:t>
          </a:r>
          <a:endParaRPr lang="en-US"/>
        </a:p>
      </dgm:t>
    </dgm:pt>
    <dgm:pt modelId="{D0520C85-4B6E-42D6-8E2C-338213F9E23F}" type="parTrans" cxnId="{813C9F59-938A-48E7-8AEA-F45F6F7D2858}">
      <dgm:prSet/>
      <dgm:spPr/>
      <dgm:t>
        <a:bodyPr/>
        <a:lstStyle/>
        <a:p>
          <a:endParaRPr lang="en-US"/>
        </a:p>
      </dgm:t>
    </dgm:pt>
    <dgm:pt modelId="{CCC074FE-E1B6-44F3-8653-9CE59F9E83C4}" type="sibTrans" cxnId="{813C9F59-938A-48E7-8AEA-F45F6F7D2858}">
      <dgm:prSet/>
      <dgm:spPr/>
      <dgm:t>
        <a:bodyPr/>
        <a:lstStyle/>
        <a:p>
          <a:endParaRPr lang="en-US"/>
        </a:p>
      </dgm:t>
    </dgm:pt>
    <dgm:pt modelId="{DC81C836-F886-4634-8DBE-8ACE77EF5E4C}">
      <dgm:prSet/>
      <dgm:spPr/>
      <dgm:t>
        <a:bodyPr/>
        <a:lstStyle/>
        <a:p>
          <a:r>
            <a:rPr lang="pl-PL"/>
            <a:t>dobry system filtrowania przy wyszukiwaniu ogłoszeń (lokalizacja, typ wydarzenia, kategorie, wymagania), aby użytkonik, mógł znaleźć ogłoszenia odpowiednie dla niego.</a:t>
          </a:r>
          <a:endParaRPr lang="en-US"/>
        </a:p>
      </dgm:t>
    </dgm:pt>
    <dgm:pt modelId="{33989AFC-38C9-4D6D-8FE6-5F2621B1E811}" type="parTrans" cxnId="{1C9AA082-F571-487E-8773-EC53FC74F11D}">
      <dgm:prSet/>
      <dgm:spPr/>
      <dgm:t>
        <a:bodyPr/>
        <a:lstStyle/>
        <a:p>
          <a:endParaRPr lang="en-US"/>
        </a:p>
      </dgm:t>
    </dgm:pt>
    <dgm:pt modelId="{9D163E3D-EB23-46CA-BC8B-535626006BD0}" type="sibTrans" cxnId="{1C9AA082-F571-487E-8773-EC53FC74F11D}">
      <dgm:prSet/>
      <dgm:spPr/>
      <dgm:t>
        <a:bodyPr/>
        <a:lstStyle/>
        <a:p>
          <a:endParaRPr lang="en-US"/>
        </a:p>
      </dgm:t>
    </dgm:pt>
    <dgm:pt modelId="{9897371A-193B-4691-9C8E-4D117478D1E0}">
      <dgm:prSet/>
      <dgm:spPr/>
      <dgm:t>
        <a:bodyPr/>
        <a:lstStyle/>
        <a:p>
          <a:r>
            <a:rPr lang="pl-PL"/>
            <a:t>system dopasowania ofert dla danego użytkownika na podstawie jego preferencji i wydarzeń w których brał udział.</a:t>
          </a:r>
          <a:endParaRPr lang="en-US"/>
        </a:p>
      </dgm:t>
    </dgm:pt>
    <dgm:pt modelId="{A6E86C06-64B8-47A5-8722-32FB36DE984A}" type="parTrans" cxnId="{9F9C3B8D-022C-495B-9588-CB8F84BEB4A1}">
      <dgm:prSet/>
      <dgm:spPr/>
      <dgm:t>
        <a:bodyPr/>
        <a:lstStyle/>
        <a:p>
          <a:endParaRPr lang="en-US"/>
        </a:p>
      </dgm:t>
    </dgm:pt>
    <dgm:pt modelId="{E60965E4-54B2-4B5D-9897-F276E8862CB7}" type="sibTrans" cxnId="{9F9C3B8D-022C-495B-9588-CB8F84BEB4A1}">
      <dgm:prSet/>
      <dgm:spPr/>
      <dgm:t>
        <a:bodyPr/>
        <a:lstStyle/>
        <a:p>
          <a:endParaRPr lang="en-US"/>
        </a:p>
      </dgm:t>
    </dgm:pt>
    <dgm:pt modelId="{6DEA80C1-5AFA-49CA-B8D2-ECD2B5DED3FF}">
      <dgm:prSet/>
      <dgm:spPr/>
      <dgm:t>
        <a:bodyPr/>
        <a:lstStyle/>
        <a:p>
          <a:r>
            <a:rPr lang="pl-PL"/>
            <a:t>moderacje ogłoszeń, usuwanie nieaktywnych ofert, spamu, możliwość zgłaszania podejrzanych ofert, weryfikacja organizacji i użytkowników</a:t>
          </a:r>
          <a:endParaRPr lang="en-US"/>
        </a:p>
      </dgm:t>
    </dgm:pt>
    <dgm:pt modelId="{AAB712BC-7752-4C2C-8045-42F243B42F81}" type="parTrans" cxnId="{B213C400-9CB6-453A-AC05-9561D1C004AB}">
      <dgm:prSet/>
      <dgm:spPr/>
      <dgm:t>
        <a:bodyPr/>
        <a:lstStyle/>
        <a:p>
          <a:endParaRPr lang="en-US"/>
        </a:p>
      </dgm:t>
    </dgm:pt>
    <dgm:pt modelId="{9A4ECFD2-DA20-4E53-8F6F-DE91952CAA38}" type="sibTrans" cxnId="{B213C400-9CB6-453A-AC05-9561D1C004AB}">
      <dgm:prSet/>
      <dgm:spPr/>
      <dgm:t>
        <a:bodyPr/>
        <a:lstStyle/>
        <a:p>
          <a:endParaRPr lang="en-US"/>
        </a:p>
      </dgm:t>
    </dgm:pt>
    <dgm:pt modelId="{675B7224-4CAF-4E4B-A93F-8A6754BF07D2}" type="pres">
      <dgm:prSet presAssocID="{6D9E48D3-543C-4D76-B293-FF0E37F23A73}" presName="root" presStyleCnt="0">
        <dgm:presLayoutVars>
          <dgm:dir/>
          <dgm:resizeHandles val="exact"/>
        </dgm:presLayoutVars>
      </dgm:prSet>
      <dgm:spPr/>
    </dgm:pt>
    <dgm:pt modelId="{313CA001-4E37-458F-96B5-DCA6B18644D1}" type="pres">
      <dgm:prSet presAssocID="{D65646D5-D655-4890-90EC-0AB312EFED2F}" presName="compNode" presStyleCnt="0"/>
      <dgm:spPr/>
    </dgm:pt>
    <dgm:pt modelId="{841F59B0-9729-427C-91FB-6B8EF6B8847C}" type="pres">
      <dgm:prSet presAssocID="{D65646D5-D655-4890-90EC-0AB312EFED2F}" presName="bgRect" presStyleLbl="bgShp" presStyleIdx="0" presStyleCnt="5"/>
      <dgm:spPr/>
    </dgm:pt>
    <dgm:pt modelId="{052A9608-8EB6-4A4F-BB1F-9D6E961DE850}" type="pres">
      <dgm:prSet presAssocID="{D65646D5-D655-4890-90EC-0AB312EFED2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8CF67A29-3D82-4560-9C38-B8B5AFD1D673}" type="pres">
      <dgm:prSet presAssocID="{D65646D5-D655-4890-90EC-0AB312EFED2F}" presName="spaceRect" presStyleCnt="0"/>
      <dgm:spPr/>
    </dgm:pt>
    <dgm:pt modelId="{6D59F3F3-7AC7-42BC-B486-6709C16AEE78}" type="pres">
      <dgm:prSet presAssocID="{D65646D5-D655-4890-90EC-0AB312EFED2F}" presName="parTx" presStyleLbl="revTx" presStyleIdx="0" presStyleCnt="5">
        <dgm:presLayoutVars>
          <dgm:chMax val="0"/>
          <dgm:chPref val="0"/>
        </dgm:presLayoutVars>
      </dgm:prSet>
      <dgm:spPr/>
    </dgm:pt>
    <dgm:pt modelId="{B8FAAA15-21EF-42CD-ADED-71920217A239}" type="pres">
      <dgm:prSet presAssocID="{0334E6C0-FE1A-4EE6-8CE2-2B89266B5ED9}" presName="sibTrans" presStyleCnt="0"/>
      <dgm:spPr/>
    </dgm:pt>
    <dgm:pt modelId="{A6BCF171-D6A6-4B95-956E-4EA7BE781B21}" type="pres">
      <dgm:prSet presAssocID="{D4FA76D3-CF22-4262-86E4-EEBCD89ED3A9}" presName="compNode" presStyleCnt="0"/>
      <dgm:spPr/>
    </dgm:pt>
    <dgm:pt modelId="{7C3830E2-3792-4E55-83CC-2AB89A7A1AC6}" type="pres">
      <dgm:prSet presAssocID="{D4FA76D3-CF22-4262-86E4-EEBCD89ED3A9}" presName="bgRect" presStyleLbl="bgShp" presStyleIdx="1" presStyleCnt="5"/>
      <dgm:spPr/>
    </dgm:pt>
    <dgm:pt modelId="{965E49C8-A90A-4A8D-B38A-DC7E0851EB02}" type="pres">
      <dgm:prSet presAssocID="{D4FA76D3-CF22-4262-86E4-EEBCD89ED3A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49CE4446-3F5C-4884-953C-A9DDC88C7A66}" type="pres">
      <dgm:prSet presAssocID="{D4FA76D3-CF22-4262-86E4-EEBCD89ED3A9}" presName="spaceRect" presStyleCnt="0"/>
      <dgm:spPr/>
    </dgm:pt>
    <dgm:pt modelId="{7229A357-B37B-4093-890B-ACB9B45E3433}" type="pres">
      <dgm:prSet presAssocID="{D4FA76D3-CF22-4262-86E4-EEBCD89ED3A9}" presName="parTx" presStyleLbl="revTx" presStyleIdx="1" presStyleCnt="5">
        <dgm:presLayoutVars>
          <dgm:chMax val="0"/>
          <dgm:chPref val="0"/>
        </dgm:presLayoutVars>
      </dgm:prSet>
      <dgm:spPr/>
    </dgm:pt>
    <dgm:pt modelId="{26A32CBA-0327-4D31-BC41-199D910AC31B}" type="pres">
      <dgm:prSet presAssocID="{CCC074FE-E1B6-44F3-8653-9CE59F9E83C4}" presName="sibTrans" presStyleCnt="0"/>
      <dgm:spPr/>
    </dgm:pt>
    <dgm:pt modelId="{5015B9CB-990E-47BC-A0A5-4E2D77A049F9}" type="pres">
      <dgm:prSet presAssocID="{DC81C836-F886-4634-8DBE-8ACE77EF5E4C}" presName="compNode" presStyleCnt="0"/>
      <dgm:spPr/>
    </dgm:pt>
    <dgm:pt modelId="{2BED1A1E-43B8-4420-B726-436870F0180E}" type="pres">
      <dgm:prSet presAssocID="{DC81C836-F886-4634-8DBE-8ACE77EF5E4C}" presName="bgRect" presStyleLbl="bgShp" presStyleIdx="2" presStyleCnt="5"/>
      <dgm:spPr/>
    </dgm:pt>
    <dgm:pt modelId="{1FABCF1E-21F7-43D6-9204-C232D69CCAE1}" type="pres">
      <dgm:prSet presAssocID="{DC81C836-F886-4634-8DBE-8ACE77EF5E4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ąbelki"/>
        </a:ext>
      </dgm:extLst>
    </dgm:pt>
    <dgm:pt modelId="{4BC73DE9-7319-4C17-89C2-52679D92EA8C}" type="pres">
      <dgm:prSet presAssocID="{DC81C836-F886-4634-8DBE-8ACE77EF5E4C}" presName="spaceRect" presStyleCnt="0"/>
      <dgm:spPr/>
    </dgm:pt>
    <dgm:pt modelId="{29CA4644-873B-49A9-B21D-5F41A9C85C94}" type="pres">
      <dgm:prSet presAssocID="{DC81C836-F886-4634-8DBE-8ACE77EF5E4C}" presName="parTx" presStyleLbl="revTx" presStyleIdx="2" presStyleCnt="5">
        <dgm:presLayoutVars>
          <dgm:chMax val="0"/>
          <dgm:chPref val="0"/>
        </dgm:presLayoutVars>
      </dgm:prSet>
      <dgm:spPr/>
    </dgm:pt>
    <dgm:pt modelId="{FFE31572-96F1-41D7-9686-FD75FD802330}" type="pres">
      <dgm:prSet presAssocID="{9D163E3D-EB23-46CA-BC8B-535626006BD0}" presName="sibTrans" presStyleCnt="0"/>
      <dgm:spPr/>
    </dgm:pt>
    <dgm:pt modelId="{FB3F2FB4-9169-42D2-8947-AAAC96AC7047}" type="pres">
      <dgm:prSet presAssocID="{9897371A-193B-4691-9C8E-4D117478D1E0}" presName="compNode" presStyleCnt="0"/>
      <dgm:spPr/>
    </dgm:pt>
    <dgm:pt modelId="{C8CC6C73-903E-4440-9C5E-1DDEB6B45EF8}" type="pres">
      <dgm:prSet presAssocID="{9897371A-193B-4691-9C8E-4D117478D1E0}" presName="bgRect" presStyleLbl="bgShp" presStyleIdx="3" presStyleCnt="5"/>
      <dgm:spPr/>
    </dgm:pt>
    <dgm:pt modelId="{2DA1BC71-5FCE-4450-96BB-4451E62125A3}" type="pres">
      <dgm:prSet presAssocID="{9897371A-193B-4691-9C8E-4D117478D1E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4A0F9D9B-9AC5-462D-949C-F30853808C4F}" type="pres">
      <dgm:prSet presAssocID="{9897371A-193B-4691-9C8E-4D117478D1E0}" presName="spaceRect" presStyleCnt="0"/>
      <dgm:spPr/>
    </dgm:pt>
    <dgm:pt modelId="{747D2060-E15E-41FC-AB60-C2367BC06989}" type="pres">
      <dgm:prSet presAssocID="{9897371A-193B-4691-9C8E-4D117478D1E0}" presName="parTx" presStyleLbl="revTx" presStyleIdx="3" presStyleCnt="5">
        <dgm:presLayoutVars>
          <dgm:chMax val="0"/>
          <dgm:chPref val="0"/>
        </dgm:presLayoutVars>
      </dgm:prSet>
      <dgm:spPr/>
    </dgm:pt>
    <dgm:pt modelId="{88601DAD-B537-499E-9658-DC64DE7E4E0E}" type="pres">
      <dgm:prSet presAssocID="{E60965E4-54B2-4B5D-9897-F276E8862CB7}" presName="sibTrans" presStyleCnt="0"/>
      <dgm:spPr/>
    </dgm:pt>
    <dgm:pt modelId="{0AD6A459-7BE9-4206-A6DF-D3F8DB992C8C}" type="pres">
      <dgm:prSet presAssocID="{6DEA80C1-5AFA-49CA-B8D2-ECD2B5DED3FF}" presName="compNode" presStyleCnt="0"/>
      <dgm:spPr/>
    </dgm:pt>
    <dgm:pt modelId="{C76497B6-383F-4ACB-92CF-1E97A1D75245}" type="pres">
      <dgm:prSet presAssocID="{6DEA80C1-5AFA-49CA-B8D2-ECD2B5DED3FF}" presName="bgRect" presStyleLbl="bgShp" presStyleIdx="4" presStyleCnt="5"/>
      <dgm:spPr/>
    </dgm:pt>
    <dgm:pt modelId="{6FCB39AD-2B71-4051-A3C0-80E12C391A99}" type="pres">
      <dgm:prSet presAssocID="{6DEA80C1-5AFA-49CA-B8D2-ECD2B5DED3F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iszczarka"/>
        </a:ext>
      </dgm:extLst>
    </dgm:pt>
    <dgm:pt modelId="{D3786B3A-D46E-4D2D-B2D7-9157755B6153}" type="pres">
      <dgm:prSet presAssocID="{6DEA80C1-5AFA-49CA-B8D2-ECD2B5DED3FF}" presName="spaceRect" presStyleCnt="0"/>
      <dgm:spPr/>
    </dgm:pt>
    <dgm:pt modelId="{86533731-F8C3-4F7D-8E1B-29B358D57716}" type="pres">
      <dgm:prSet presAssocID="{6DEA80C1-5AFA-49CA-B8D2-ECD2B5DED3F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213C400-9CB6-453A-AC05-9561D1C004AB}" srcId="{6D9E48D3-543C-4D76-B293-FF0E37F23A73}" destId="{6DEA80C1-5AFA-49CA-B8D2-ECD2B5DED3FF}" srcOrd="4" destOrd="0" parTransId="{AAB712BC-7752-4C2C-8045-42F243B42F81}" sibTransId="{9A4ECFD2-DA20-4E53-8F6F-DE91952CAA38}"/>
    <dgm:cxn modelId="{6374100F-FE57-4CAF-9C11-DC108778C181}" type="presOf" srcId="{D65646D5-D655-4890-90EC-0AB312EFED2F}" destId="{6D59F3F3-7AC7-42BC-B486-6709C16AEE78}" srcOrd="0" destOrd="0" presId="urn:microsoft.com/office/officeart/2018/2/layout/IconVerticalSolidList"/>
    <dgm:cxn modelId="{51E5A32D-0333-4BB9-8D61-8E7951EC7088}" type="presOf" srcId="{9897371A-193B-4691-9C8E-4D117478D1E0}" destId="{747D2060-E15E-41FC-AB60-C2367BC06989}" srcOrd="0" destOrd="0" presId="urn:microsoft.com/office/officeart/2018/2/layout/IconVerticalSolidList"/>
    <dgm:cxn modelId="{A103D36F-5DE3-4BFF-B2E8-7ACDA2F727CB}" type="presOf" srcId="{D4FA76D3-CF22-4262-86E4-EEBCD89ED3A9}" destId="{7229A357-B37B-4093-890B-ACB9B45E3433}" srcOrd="0" destOrd="0" presId="urn:microsoft.com/office/officeart/2018/2/layout/IconVerticalSolidList"/>
    <dgm:cxn modelId="{E4C12B55-94A7-494C-878C-19B6D8C00B0B}" type="presOf" srcId="{6D9E48D3-543C-4D76-B293-FF0E37F23A73}" destId="{675B7224-4CAF-4E4B-A93F-8A6754BF07D2}" srcOrd="0" destOrd="0" presId="urn:microsoft.com/office/officeart/2018/2/layout/IconVerticalSolidList"/>
    <dgm:cxn modelId="{813C9F59-938A-48E7-8AEA-F45F6F7D2858}" srcId="{6D9E48D3-543C-4D76-B293-FF0E37F23A73}" destId="{D4FA76D3-CF22-4262-86E4-EEBCD89ED3A9}" srcOrd="1" destOrd="0" parTransId="{D0520C85-4B6E-42D6-8E2C-338213F9E23F}" sibTransId="{CCC074FE-E1B6-44F3-8653-9CE59F9E83C4}"/>
    <dgm:cxn modelId="{1C9AA082-F571-487E-8773-EC53FC74F11D}" srcId="{6D9E48D3-543C-4D76-B293-FF0E37F23A73}" destId="{DC81C836-F886-4634-8DBE-8ACE77EF5E4C}" srcOrd="2" destOrd="0" parTransId="{33989AFC-38C9-4D6D-8FE6-5F2621B1E811}" sibTransId="{9D163E3D-EB23-46CA-BC8B-535626006BD0}"/>
    <dgm:cxn modelId="{67EB0688-AC02-44FB-9415-CA6EABA5E9A8}" type="presOf" srcId="{DC81C836-F886-4634-8DBE-8ACE77EF5E4C}" destId="{29CA4644-873B-49A9-B21D-5F41A9C85C94}" srcOrd="0" destOrd="0" presId="urn:microsoft.com/office/officeart/2018/2/layout/IconVerticalSolidList"/>
    <dgm:cxn modelId="{9F9C3B8D-022C-495B-9588-CB8F84BEB4A1}" srcId="{6D9E48D3-543C-4D76-B293-FF0E37F23A73}" destId="{9897371A-193B-4691-9C8E-4D117478D1E0}" srcOrd="3" destOrd="0" parTransId="{A6E86C06-64B8-47A5-8722-32FB36DE984A}" sibTransId="{E60965E4-54B2-4B5D-9897-F276E8862CB7}"/>
    <dgm:cxn modelId="{7A5C06CF-5EE2-4220-88F1-7058947A4F7B}" srcId="{6D9E48D3-543C-4D76-B293-FF0E37F23A73}" destId="{D65646D5-D655-4890-90EC-0AB312EFED2F}" srcOrd="0" destOrd="0" parTransId="{5BBF73CA-D9D6-471B-B073-2D3CC9E71963}" sibTransId="{0334E6C0-FE1A-4EE6-8CE2-2B89266B5ED9}"/>
    <dgm:cxn modelId="{12FD3FE3-C73B-4500-B9DD-04C9BBF1853B}" type="presOf" srcId="{6DEA80C1-5AFA-49CA-B8D2-ECD2B5DED3FF}" destId="{86533731-F8C3-4F7D-8E1B-29B358D57716}" srcOrd="0" destOrd="0" presId="urn:microsoft.com/office/officeart/2018/2/layout/IconVerticalSolidList"/>
    <dgm:cxn modelId="{0E4E99BE-839B-4AD9-8119-B5216B7381B0}" type="presParOf" srcId="{675B7224-4CAF-4E4B-A93F-8A6754BF07D2}" destId="{313CA001-4E37-458F-96B5-DCA6B18644D1}" srcOrd="0" destOrd="0" presId="urn:microsoft.com/office/officeart/2018/2/layout/IconVerticalSolidList"/>
    <dgm:cxn modelId="{0824C528-14B0-40D6-9BD9-D6F3428CCB7D}" type="presParOf" srcId="{313CA001-4E37-458F-96B5-DCA6B18644D1}" destId="{841F59B0-9729-427C-91FB-6B8EF6B8847C}" srcOrd="0" destOrd="0" presId="urn:microsoft.com/office/officeart/2018/2/layout/IconVerticalSolidList"/>
    <dgm:cxn modelId="{A66F393B-3BF3-42AE-9A57-8B7A496A4154}" type="presParOf" srcId="{313CA001-4E37-458F-96B5-DCA6B18644D1}" destId="{052A9608-8EB6-4A4F-BB1F-9D6E961DE850}" srcOrd="1" destOrd="0" presId="urn:microsoft.com/office/officeart/2018/2/layout/IconVerticalSolidList"/>
    <dgm:cxn modelId="{A831DEE8-3D41-41BC-90C2-BFE329E488E5}" type="presParOf" srcId="{313CA001-4E37-458F-96B5-DCA6B18644D1}" destId="{8CF67A29-3D82-4560-9C38-B8B5AFD1D673}" srcOrd="2" destOrd="0" presId="urn:microsoft.com/office/officeart/2018/2/layout/IconVerticalSolidList"/>
    <dgm:cxn modelId="{1627DE1C-9AFA-40F5-B729-3AD4B2F48268}" type="presParOf" srcId="{313CA001-4E37-458F-96B5-DCA6B18644D1}" destId="{6D59F3F3-7AC7-42BC-B486-6709C16AEE78}" srcOrd="3" destOrd="0" presId="urn:microsoft.com/office/officeart/2018/2/layout/IconVerticalSolidList"/>
    <dgm:cxn modelId="{688BA858-149E-4BB8-8937-C52D2A06A587}" type="presParOf" srcId="{675B7224-4CAF-4E4B-A93F-8A6754BF07D2}" destId="{B8FAAA15-21EF-42CD-ADED-71920217A239}" srcOrd="1" destOrd="0" presId="urn:microsoft.com/office/officeart/2018/2/layout/IconVerticalSolidList"/>
    <dgm:cxn modelId="{CE05CD84-8208-4FF9-A7B1-4AC8C8D05093}" type="presParOf" srcId="{675B7224-4CAF-4E4B-A93F-8A6754BF07D2}" destId="{A6BCF171-D6A6-4B95-956E-4EA7BE781B21}" srcOrd="2" destOrd="0" presId="urn:microsoft.com/office/officeart/2018/2/layout/IconVerticalSolidList"/>
    <dgm:cxn modelId="{AE4D92F3-E5DC-40BA-9BD4-980C0970EF66}" type="presParOf" srcId="{A6BCF171-D6A6-4B95-956E-4EA7BE781B21}" destId="{7C3830E2-3792-4E55-83CC-2AB89A7A1AC6}" srcOrd="0" destOrd="0" presId="urn:microsoft.com/office/officeart/2018/2/layout/IconVerticalSolidList"/>
    <dgm:cxn modelId="{4EC7E11B-95D2-49E0-8C27-DF8C230F3145}" type="presParOf" srcId="{A6BCF171-D6A6-4B95-956E-4EA7BE781B21}" destId="{965E49C8-A90A-4A8D-B38A-DC7E0851EB02}" srcOrd="1" destOrd="0" presId="urn:microsoft.com/office/officeart/2018/2/layout/IconVerticalSolidList"/>
    <dgm:cxn modelId="{696E888F-92FF-401B-927C-488EDCA957FE}" type="presParOf" srcId="{A6BCF171-D6A6-4B95-956E-4EA7BE781B21}" destId="{49CE4446-3F5C-4884-953C-A9DDC88C7A66}" srcOrd="2" destOrd="0" presId="urn:microsoft.com/office/officeart/2018/2/layout/IconVerticalSolidList"/>
    <dgm:cxn modelId="{3426C8BF-40C3-4382-B4CC-E986E2D5CA14}" type="presParOf" srcId="{A6BCF171-D6A6-4B95-956E-4EA7BE781B21}" destId="{7229A357-B37B-4093-890B-ACB9B45E3433}" srcOrd="3" destOrd="0" presId="urn:microsoft.com/office/officeart/2018/2/layout/IconVerticalSolidList"/>
    <dgm:cxn modelId="{1955F8EB-4B5F-4D21-96B2-7BD6C62C5E7D}" type="presParOf" srcId="{675B7224-4CAF-4E4B-A93F-8A6754BF07D2}" destId="{26A32CBA-0327-4D31-BC41-199D910AC31B}" srcOrd="3" destOrd="0" presId="urn:microsoft.com/office/officeart/2018/2/layout/IconVerticalSolidList"/>
    <dgm:cxn modelId="{64FDBC5F-34BC-42D4-9782-732752F83EB3}" type="presParOf" srcId="{675B7224-4CAF-4E4B-A93F-8A6754BF07D2}" destId="{5015B9CB-990E-47BC-A0A5-4E2D77A049F9}" srcOrd="4" destOrd="0" presId="urn:microsoft.com/office/officeart/2018/2/layout/IconVerticalSolidList"/>
    <dgm:cxn modelId="{8CBA9A6D-B50A-4DA8-8056-F9BCC9DA6EB8}" type="presParOf" srcId="{5015B9CB-990E-47BC-A0A5-4E2D77A049F9}" destId="{2BED1A1E-43B8-4420-B726-436870F0180E}" srcOrd="0" destOrd="0" presId="urn:microsoft.com/office/officeart/2018/2/layout/IconVerticalSolidList"/>
    <dgm:cxn modelId="{8C4161CD-B805-45E0-8492-F36BFACDED72}" type="presParOf" srcId="{5015B9CB-990E-47BC-A0A5-4E2D77A049F9}" destId="{1FABCF1E-21F7-43D6-9204-C232D69CCAE1}" srcOrd="1" destOrd="0" presId="urn:microsoft.com/office/officeart/2018/2/layout/IconVerticalSolidList"/>
    <dgm:cxn modelId="{11C6DF76-C430-418F-9C0D-5AD6C6A8C715}" type="presParOf" srcId="{5015B9CB-990E-47BC-A0A5-4E2D77A049F9}" destId="{4BC73DE9-7319-4C17-89C2-52679D92EA8C}" srcOrd="2" destOrd="0" presId="urn:microsoft.com/office/officeart/2018/2/layout/IconVerticalSolidList"/>
    <dgm:cxn modelId="{410CF659-972C-481D-9B73-35A082A1F01A}" type="presParOf" srcId="{5015B9CB-990E-47BC-A0A5-4E2D77A049F9}" destId="{29CA4644-873B-49A9-B21D-5F41A9C85C94}" srcOrd="3" destOrd="0" presId="urn:microsoft.com/office/officeart/2018/2/layout/IconVerticalSolidList"/>
    <dgm:cxn modelId="{336BCA8B-B182-43B4-9630-26832444CF64}" type="presParOf" srcId="{675B7224-4CAF-4E4B-A93F-8A6754BF07D2}" destId="{FFE31572-96F1-41D7-9686-FD75FD802330}" srcOrd="5" destOrd="0" presId="urn:microsoft.com/office/officeart/2018/2/layout/IconVerticalSolidList"/>
    <dgm:cxn modelId="{63E7E6B1-D09A-44DB-BAF6-D1C468C9B541}" type="presParOf" srcId="{675B7224-4CAF-4E4B-A93F-8A6754BF07D2}" destId="{FB3F2FB4-9169-42D2-8947-AAAC96AC7047}" srcOrd="6" destOrd="0" presId="urn:microsoft.com/office/officeart/2018/2/layout/IconVerticalSolidList"/>
    <dgm:cxn modelId="{BFF57C62-E40A-4D38-AE75-6BCB7A4B2394}" type="presParOf" srcId="{FB3F2FB4-9169-42D2-8947-AAAC96AC7047}" destId="{C8CC6C73-903E-4440-9C5E-1DDEB6B45EF8}" srcOrd="0" destOrd="0" presId="urn:microsoft.com/office/officeart/2018/2/layout/IconVerticalSolidList"/>
    <dgm:cxn modelId="{E0DF3704-AE3D-4632-B25D-53CF8945D725}" type="presParOf" srcId="{FB3F2FB4-9169-42D2-8947-AAAC96AC7047}" destId="{2DA1BC71-5FCE-4450-96BB-4451E62125A3}" srcOrd="1" destOrd="0" presId="urn:microsoft.com/office/officeart/2018/2/layout/IconVerticalSolidList"/>
    <dgm:cxn modelId="{D5AF3358-21EF-4C27-8837-A4C43F267927}" type="presParOf" srcId="{FB3F2FB4-9169-42D2-8947-AAAC96AC7047}" destId="{4A0F9D9B-9AC5-462D-949C-F30853808C4F}" srcOrd="2" destOrd="0" presId="urn:microsoft.com/office/officeart/2018/2/layout/IconVerticalSolidList"/>
    <dgm:cxn modelId="{2F2EF604-CF6B-4ACA-B1DF-097867E5579A}" type="presParOf" srcId="{FB3F2FB4-9169-42D2-8947-AAAC96AC7047}" destId="{747D2060-E15E-41FC-AB60-C2367BC06989}" srcOrd="3" destOrd="0" presId="urn:microsoft.com/office/officeart/2018/2/layout/IconVerticalSolidList"/>
    <dgm:cxn modelId="{4949B764-2DA7-480D-B690-A2F1C0F3B612}" type="presParOf" srcId="{675B7224-4CAF-4E4B-A93F-8A6754BF07D2}" destId="{88601DAD-B537-499E-9658-DC64DE7E4E0E}" srcOrd="7" destOrd="0" presId="urn:microsoft.com/office/officeart/2018/2/layout/IconVerticalSolidList"/>
    <dgm:cxn modelId="{C7FA93DD-8691-4146-8516-84E575A94D67}" type="presParOf" srcId="{675B7224-4CAF-4E4B-A93F-8A6754BF07D2}" destId="{0AD6A459-7BE9-4206-A6DF-D3F8DB992C8C}" srcOrd="8" destOrd="0" presId="urn:microsoft.com/office/officeart/2018/2/layout/IconVerticalSolidList"/>
    <dgm:cxn modelId="{6653F84C-D85E-4D5C-9575-7587997FE37C}" type="presParOf" srcId="{0AD6A459-7BE9-4206-A6DF-D3F8DB992C8C}" destId="{C76497B6-383F-4ACB-92CF-1E97A1D75245}" srcOrd="0" destOrd="0" presId="urn:microsoft.com/office/officeart/2018/2/layout/IconVerticalSolidList"/>
    <dgm:cxn modelId="{AF0BD8C7-B5BB-44F6-AF2E-1CCF1BCE489C}" type="presParOf" srcId="{0AD6A459-7BE9-4206-A6DF-D3F8DB992C8C}" destId="{6FCB39AD-2B71-4051-A3C0-80E12C391A99}" srcOrd="1" destOrd="0" presId="urn:microsoft.com/office/officeart/2018/2/layout/IconVerticalSolidList"/>
    <dgm:cxn modelId="{CA154E6F-E71F-4AE0-A305-01AD0BE32C05}" type="presParOf" srcId="{0AD6A459-7BE9-4206-A6DF-D3F8DB992C8C}" destId="{D3786B3A-D46E-4D2D-B2D7-9157755B6153}" srcOrd="2" destOrd="0" presId="urn:microsoft.com/office/officeart/2018/2/layout/IconVerticalSolidList"/>
    <dgm:cxn modelId="{6CFBF771-D73D-49FD-BF08-B7D707456B84}" type="presParOf" srcId="{0AD6A459-7BE9-4206-A6DF-D3F8DB992C8C}" destId="{86533731-F8C3-4F7D-8E1B-29B358D577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F59B0-9729-427C-91FB-6B8EF6B8847C}">
      <dsp:nvSpPr>
        <dsp:cNvPr id="0" name=""/>
        <dsp:cNvSpPr/>
      </dsp:nvSpPr>
      <dsp:spPr>
        <a:xfrm>
          <a:off x="0" y="3404"/>
          <a:ext cx="105156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A9608-8EB6-4A4F-BB1F-9D6E961DE850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9F3F3-7AC7-42BC-B486-6709C16AEE78}">
      <dsp:nvSpPr>
        <dsp:cNvPr id="0" name=""/>
        <dsp:cNvSpPr/>
      </dsp:nvSpPr>
      <dsp:spPr>
        <a:xfrm>
          <a:off x="837512" y="3404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możliwość interakcji między użytkownikami i organizacjami oraz system ocen i rekomendacji, dzięki czemu każdy będzie wiedział, kto jest rzetelny, a które działania wymagają poprawy.</a:t>
          </a:r>
          <a:endParaRPr lang="en-US" sz="1800" kern="1200"/>
        </a:p>
      </dsp:txBody>
      <dsp:txXfrm>
        <a:off x="837512" y="3404"/>
        <a:ext cx="9678087" cy="725119"/>
      </dsp:txXfrm>
    </dsp:sp>
    <dsp:sp modelId="{7C3830E2-3792-4E55-83CC-2AB89A7A1AC6}">
      <dsp:nvSpPr>
        <dsp:cNvPr id="0" name=""/>
        <dsp:cNvSpPr/>
      </dsp:nvSpPr>
      <dsp:spPr>
        <a:xfrm>
          <a:off x="0" y="909803"/>
          <a:ext cx="105156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5E49C8-A90A-4A8D-B38A-DC7E0851EB02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9A357-B37B-4093-890B-ACB9B45E3433}">
      <dsp:nvSpPr>
        <dsp:cNvPr id="0" name=""/>
        <dsp:cNvSpPr/>
      </dsp:nvSpPr>
      <dsp:spPr>
        <a:xfrm>
          <a:off x="837512" y="909803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nowoczesny wygląd i intuicyjną nawigację, aby łatwo było znaleźć interesujące oferty i zachęcić użytkowników do częstszego korzystania z platformy.</a:t>
          </a:r>
          <a:endParaRPr lang="en-US" sz="1800" kern="1200"/>
        </a:p>
      </dsp:txBody>
      <dsp:txXfrm>
        <a:off x="837512" y="909803"/>
        <a:ext cx="9678087" cy="725119"/>
      </dsp:txXfrm>
    </dsp:sp>
    <dsp:sp modelId="{2BED1A1E-43B8-4420-B726-436870F0180E}">
      <dsp:nvSpPr>
        <dsp:cNvPr id="0" name=""/>
        <dsp:cNvSpPr/>
      </dsp:nvSpPr>
      <dsp:spPr>
        <a:xfrm>
          <a:off x="0" y="1816202"/>
          <a:ext cx="105156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BCF1E-21F7-43D6-9204-C232D69CCAE1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A4644-873B-49A9-B21D-5F41A9C85C94}">
      <dsp:nvSpPr>
        <dsp:cNvPr id="0" name=""/>
        <dsp:cNvSpPr/>
      </dsp:nvSpPr>
      <dsp:spPr>
        <a:xfrm>
          <a:off x="837512" y="1816202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dobry system filtrowania przy wyszukiwaniu ogłoszeń (lokalizacja, typ wydarzenia, kategorie, wymagania), aby użytkonik, mógł znaleźć ogłoszenia odpowiednie dla niego.</a:t>
          </a:r>
          <a:endParaRPr lang="en-US" sz="1800" kern="1200"/>
        </a:p>
      </dsp:txBody>
      <dsp:txXfrm>
        <a:off x="837512" y="1816202"/>
        <a:ext cx="9678087" cy="725119"/>
      </dsp:txXfrm>
    </dsp:sp>
    <dsp:sp modelId="{C8CC6C73-903E-4440-9C5E-1DDEB6B45EF8}">
      <dsp:nvSpPr>
        <dsp:cNvPr id="0" name=""/>
        <dsp:cNvSpPr/>
      </dsp:nvSpPr>
      <dsp:spPr>
        <a:xfrm>
          <a:off x="0" y="2722601"/>
          <a:ext cx="105156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A1BC71-5FCE-4450-96BB-4451E62125A3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7D2060-E15E-41FC-AB60-C2367BC06989}">
      <dsp:nvSpPr>
        <dsp:cNvPr id="0" name=""/>
        <dsp:cNvSpPr/>
      </dsp:nvSpPr>
      <dsp:spPr>
        <a:xfrm>
          <a:off x="837512" y="2722601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system dopasowania ofert dla danego użytkownika na podstawie jego preferencji i wydarzeń w których brał udział.</a:t>
          </a:r>
          <a:endParaRPr lang="en-US" sz="1800" kern="1200"/>
        </a:p>
      </dsp:txBody>
      <dsp:txXfrm>
        <a:off x="837512" y="2722601"/>
        <a:ext cx="9678087" cy="725119"/>
      </dsp:txXfrm>
    </dsp:sp>
    <dsp:sp modelId="{C76497B6-383F-4ACB-92CF-1E97A1D75245}">
      <dsp:nvSpPr>
        <dsp:cNvPr id="0" name=""/>
        <dsp:cNvSpPr/>
      </dsp:nvSpPr>
      <dsp:spPr>
        <a:xfrm>
          <a:off x="0" y="3629000"/>
          <a:ext cx="105156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CB39AD-2B71-4051-A3C0-80E12C391A99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33731-F8C3-4F7D-8E1B-29B358D57716}">
      <dsp:nvSpPr>
        <dsp:cNvPr id="0" name=""/>
        <dsp:cNvSpPr/>
      </dsp:nvSpPr>
      <dsp:spPr>
        <a:xfrm>
          <a:off x="837512" y="3629000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moderacje ogłoszeń, usuwanie nieaktywnych ofert, spamu, możliwość zgłaszania podejrzanych ofert, weryfikacja organizacji i użytkowników</a:t>
          </a:r>
          <a:endParaRPr lang="en-US" sz="1800" kern="1200"/>
        </a:p>
      </dsp:txBody>
      <dsp:txXfrm>
        <a:off x="837512" y="3629000"/>
        <a:ext cx="9678087" cy="725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18.03.2026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 descr="Obraz zawierający tekst, ubrania, roślina, zrzut ekranu&#10;&#10;Zawartość wygenerowana przez AI może być niepoprawna.">
            <a:extLst>
              <a:ext uri="{FF2B5EF4-FFF2-40B4-BE49-F238E27FC236}">
                <a16:creationId xmlns:a16="http://schemas.microsoft.com/office/drawing/2014/main" id="{313BAC9A-C701-37A1-756F-B0E1521E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14" r="7809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56E5E07-FAB8-2E99-DD50-18B930E2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l-PL" sz="4000">
                <a:ea typeface="+mj-lt"/>
                <a:cs typeface="+mj-lt"/>
              </a:rPr>
              <a:t>VolunteerMatch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175AA53-9FEA-5E34-BAB6-3B998B4FC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1900">
                <a:ea typeface="+mn-lt"/>
                <a:cs typeface="+mn-lt"/>
              </a:rPr>
              <a:t>Serwis umożliwia osobom prywatnym wyszukiwanie ofert wolontariatu według lokalizacji, zainteresowań, umiejętności i dostępności czasowej. Organizacje mogą bezpłatnie publikować ogłoszenia i zarządzać zgłoszeniami.</a:t>
            </a:r>
            <a:endParaRPr lang="pl-PL" sz="1900">
              <a:highlight>
                <a:srgbClr val="212121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3127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1DF34D81-3F80-9755-BAAC-343BC804F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11784"/>
            <a:ext cx="10905066" cy="52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87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 descr="Obraz zawierający tekst, zrzut ekranu, oprogramowanie, Strona internetowa&#10;&#10;Zawartość wygenerowana przez AI może być niepoprawna.">
            <a:extLst>
              <a:ext uri="{FF2B5EF4-FFF2-40B4-BE49-F238E27FC236}">
                <a16:creationId xmlns:a16="http://schemas.microsoft.com/office/drawing/2014/main" id="{406BED92-3CA9-2697-61AC-1FE85BAA3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113" y="0"/>
            <a:ext cx="10081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82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logo&#10;&#10;Zawartość wygenerowana przez AI może być niepoprawna.">
            <a:extLst>
              <a:ext uri="{FF2B5EF4-FFF2-40B4-BE49-F238E27FC236}">
                <a16:creationId xmlns:a16="http://schemas.microsoft.com/office/drawing/2014/main" id="{D9246501-0010-EEFB-2685-4E028A67F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69" y="721938"/>
            <a:ext cx="10658231" cy="541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8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843D27B-1260-C429-295A-545175116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824300"/>
              </p:ext>
            </p:extLst>
          </p:nvPr>
        </p:nvGraphicFramePr>
        <p:xfrm>
          <a:off x="643467" y="1533377"/>
          <a:ext cx="10905067" cy="379124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5352869">
                  <a:extLst>
                    <a:ext uri="{9D8B030D-6E8A-4147-A177-3AD203B41FA5}">
                      <a16:colId xmlns:a16="http://schemas.microsoft.com/office/drawing/2014/main" val="1337812499"/>
                    </a:ext>
                  </a:extLst>
                </a:gridCol>
                <a:gridCol w="5552198">
                  <a:extLst>
                    <a:ext uri="{9D8B030D-6E8A-4147-A177-3AD203B41FA5}">
                      <a16:colId xmlns:a16="http://schemas.microsoft.com/office/drawing/2014/main" val="1429336365"/>
                    </a:ext>
                  </a:extLst>
                </a:gridCol>
              </a:tblGrid>
              <a:tr h="849144">
                <a:tc>
                  <a:txBody>
                    <a:bodyPr/>
                    <a:lstStyle/>
                    <a:p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Zalety</a:t>
                      </a:r>
                    </a:p>
                  </a:txBody>
                  <a:tcPr marL="233215" marR="179396" marT="179396" marB="179396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Wady</a:t>
                      </a:r>
                    </a:p>
                  </a:txBody>
                  <a:tcPr marL="233215" marR="179396" marT="179396" marB="17939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26417"/>
                  </a:ext>
                </a:extLst>
              </a:tr>
              <a:tr h="2942103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bardzo duża baza ofert</a:t>
                      </a:r>
                      <a:endParaRPr lang="pl-PL" sz="2700" cap="none" spc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rozbudowane filtrowanie</a:t>
                      </a:r>
                      <a:endParaRPr lang="pl-PL" sz="2700" cap="none" spc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profile organizacji</a:t>
                      </a:r>
                      <a:endParaRPr lang="pl-PL" sz="2700" cap="none" spc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dopasowywanie ofert do zainteresowań użytkownika</a:t>
                      </a:r>
                      <a:endParaRPr lang="pl-PL" sz="27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pl-PL" sz="2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33215" marR="179396" marT="179396" marB="17939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skupienie głównie na USA</a:t>
                      </a:r>
                      <a:endParaRPr lang="pl-PL" sz="2700" cap="none" spc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rejestracja często wymagana do wielu funkcji</a:t>
                      </a:r>
                      <a:endParaRPr lang="pl-PL" sz="2700" cap="none" spc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pl-PL" sz="2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33215" marR="179396" marT="179396" marB="17939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41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53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CB6DF-1D06-8679-2D54-0D010B90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E0EA3D1D-DB9E-9905-8B8C-1A4E8C9C7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AC4014-81B0-BA26-8A71-A20499033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DE38CD6-2CBC-5124-E825-6D10EA81E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l-PL" sz="4000">
                <a:ea typeface="+mj-lt"/>
                <a:cs typeface="+mj-lt"/>
              </a:rPr>
              <a:t>Workaway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22E0E1-C95E-D65B-3C99-FD8AD88F2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025987"/>
            <a:ext cx="3849403" cy="40511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1900" dirty="0">
                <a:ea typeface="+mn-lt"/>
                <a:cs typeface="+mn-lt"/>
              </a:rPr>
              <a:t>Serwis umożliwia użytkowniką </a:t>
            </a:r>
            <a:r>
              <a:rPr lang="pl-PL" sz="1900">
                <a:ea typeface="+mn-lt"/>
                <a:cs typeface="+mn-lt"/>
              </a:rPr>
              <a:t>zakładać profile jako podróżnicy </a:t>
            </a:r>
            <a:r>
              <a:rPr lang="pl-PL" sz="1900" dirty="0">
                <a:ea typeface="+mn-lt"/>
                <a:cs typeface="+mn-lt"/>
              </a:rPr>
              <a:t>(Workawayers) lub gospodarze (Hosts). Gospodarze publikują ogłoszenia z opisem rodzaju pracy </a:t>
            </a:r>
            <a:br>
              <a:rPr lang="pl-PL" sz="1900" dirty="0">
                <a:ea typeface="+mn-lt"/>
                <a:cs typeface="+mn-lt"/>
              </a:rPr>
            </a:br>
            <a:r>
              <a:rPr lang="pl-PL" sz="1900">
                <a:ea typeface="+mn-lt"/>
                <a:cs typeface="+mn-lt"/>
              </a:rPr>
              <a:t>i </a:t>
            </a:r>
            <a:r>
              <a:rPr lang="pl-PL" sz="1900" dirty="0">
                <a:ea typeface="+mn-lt"/>
                <a:cs typeface="+mn-lt"/>
              </a:rPr>
              <a:t>oferowanych warunków </a:t>
            </a:r>
            <a:r>
              <a:rPr lang="pl-PL" sz="1900">
                <a:ea typeface="+mn-lt"/>
                <a:cs typeface="+mn-lt"/>
              </a:rPr>
              <a:t>zakwaterowania oraz wyżywienia. Podróżnicy mogą kontaktować </a:t>
            </a:r>
            <a:r>
              <a:rPr lang="pl-PL" sz="1900" dirty="0">
                <a:ea typeface="+mn-lt"/>
                <a:cs typeface="+mn-lt"/>
              </a:rPr>
              <a:t>się </a:t>
            </a:r>
            <a:br>
              <a:rPr lang="pl-PL" sz="1900" dirty="0">
                <a:ea typeface="+mn-lt"/>
                <a:cs typeface="+mn-lt"/>
              </a:rPr>
            </a:br>
            <a:r>
              <a:rPr lang="pl-PL" sz="1900">
                <a:ea typeface="+mn-lt"/>
                <a:cs typeface="+mn-lt"/>
              </a:rPr>
              <a:t>z gospodarzami, umawiać pobyty </a:t>
            </a:r>
            <a:br>
              <a:rPr lang="pl-PL" sz="1900" dirty="0">
                <a:ea typeface="+mn-lt"/>
                <a:cs typeface="+mn-lt"/>
              </a:rPr>
            </a:br>
            <a:r>
              <a:rPr lang="pl-PL" sz="1900">
                <a:ea typeface="+mn-lt"/>
                <a:cs typeface="+mn-lt"/>
              </a:rPr>
              <a:t>i </a:t>
            </a:r>
            <a:r>
              <a:rPr lang="pl-PL" sz="1900" dirty="0">
                <a:ea typeface="+mn-lt"/>
                <a:cs typeface="+mn-lt"/>
              </a:rPr>
              <a:t>współpracować przy różnych projektach — od opieki nad dziećmi i prac rolniczych po wsparcie w hostelach czy inicjatywach ekologicznych.</a:t>
            </a:r>
            <a:endParaRPr lang="pl-PL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6534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ubrania, roślina, na wolnym powietrzu&#10;&#10;Zawartość wygenerowana przez AI może być niepoprawna.">
            <a:extLst>
              <a:ext uri="{FF2B5EF4-FFF2-40B4-BE49-F238E27FC236}">
                <a16:creationId xmlns:a16="http://schemas.microsoft.com/office/drawing/2014/main" id="{E067E36D-0D86-E79E-1F9F-0A85891DB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366" y="0"/>
            <a:ext cx="10107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466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Marka&#10;&#10;Zawartość wygenerowana przez AI może być niepoprawna.">
            <a:extLst>
              <a:ext uri="{FF2B5EF4-FFF2-40B4-BE49-F238E27FC236}">
                <a16:creationId xmlns:a16="http://schemas.microsoft.com/office/drawing/2014/main" id="{711A1A36-C8B9-5FBF-152D-E26288DB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15"/>
            <a:ext cx="12192000" cy="681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87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oprogramowanie, Strona internetowa&#10;&#10;Zawartość wygenerowana przez AI może być niepoprawna.">
            <a:extLst>
              <a:ext uri="{FF2B5EF4-FFF2-40B4-BE49-F238E27FC236}">
                <a16:creationId xmlns:a16="http://schemas.microsoft.com/office/drawing/2014/main" id="{56856A14-CD16-1C97-F5FA-3AD2EB50B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49" y="0"/>
            <a:ext cx="10852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55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Strona internetowa, Reklama internetowa&#10;&#10;Zawartość wygenerowana przez AI może być niepoprawna.">
            <a:extLst>
              <a:ext uri="{FF2B5EF4-FFF2-40B4-BE49-F238E27FC236}">
                <a16:creationId xmlns:a16="http://schemas.microsoft.com/office/drawing/2014/main" id="{0DAA59D3-6831-2800-E028-232AF1A8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41" y="0"/>
            <a:ext cx="10808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12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F8638-47C8-C525-F93A-B0B34135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BB8F450B-B7EE-E21C-F5D3-E618766FE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223237"/>
              </p:ext>
            </p:extLst>
          </p:nvPr>
        </p:nvGraphicFramePr>
        <p:xfrm>
          <a:off x="643467" y="1533377"/>
          <a:ext cx="10905067" cy="379124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5352869">
                  <a:extLst>
                    <a:ext uri="{9D8B030D-6E8A-4147-A177-3AD203B41FA5}">
                      <a16:colId xmlns:a16="http://schemas.microsoft.com/office/drawing/2014/main" val="1337812499"/>
                    </a:ext>
                  </a:extLst>
                </a:gridCol>
                <a:gridCol w="5552198">
                  <a:extLst>
                    <a:ext uri="{9D8B030D-6E8A-4147-A177-3AD203B41FA5}">
                      <a16:colId xmlns:a16="http://schemas.microsoft.com/office/drawing/2014/main" val="1429336365"/>
                    </a:ext>
                  </a:extLst>
                </a:gridCol>
              </a:tblGrid>
              <a:tr h="8491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Zalety</a:t>
                      </a:r>
                      <a:endParaRPr lang="pl-PL"/>
                    </a:p>
                  </a:txBody>
                  <a:tcPr marL="233215" marR="179396" marT="179396" marB="179396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Wady</a:t>
                      </a:r>
                      <a:endParaRPr lang="pl-PL"/>
                    </a:p>
                  </a:txBody>
                  <a:tcPr marL="233215" marR="179396" marT="179396" marB="17939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26417"/>
                  </a:ext>
                </a:extLst>
              </a:tr>
              <a:tr h="2942103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globalny zasięg</a:t>
                      </a:r>
                      <a:endParaRPr lang="pl-PL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system opinii i ocen hostów</a:t>
                      </a:r>
                      <a:endParaRPr lang="pl-PL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możliwość podróżowania i zdobywania doświadczeń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233215" marR="179396" marT="179396" marB="17939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wymaga płatnego konta</a:t>
                      </a:r>
                      <a:endParaRPr lang="pl-PL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bardziej nastawiona na podróżowanie niż klasyczny wolontariat społeczny</a:t>
                      </a:r>
                      <a:endParaRPr lang="pl-PL"/>
                    </a:p>
                  </a:txBody>
                  <a:tcPr marL="233215" marR="179396" marT="179396" marB="17939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41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370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1DEC4-C7E1-E96F-DB96-958DFE91E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3B370A31-7F58-2100-235E-F6B4E8768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7693A71-05DD-A356-1B45-BBBD325D4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682F0DB-AD72-393D-DB41-C4622962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2" y="404202"/>
            <a:ext cx="3822189" cy="1899912"/>
          </a:xfrm>
        </p:spPr>
        <p:txBody>
          <a:bodyPr>
            <a:normAutofit/>
          </a:bodyPr>
          <a:lstStyle/>
          <a:p>
            <a:r>
              <a:rPr lang="pl-PL" sz="4000">
                <a:ea typeface="+mj-lt"/>
                <a:cs typeface="+mj-lt"/>
              </a:rPr>
              <a:t>VolunteersBase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4BBC03D-7BD2-B57A-5A50-C8A9DBC72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025987"/>
            <a:ext cx="3849403" cy="40511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1900" dirty="0">
                <a:ea typeface="+mn-lt"/>
                <a:cs typeface="+mn-lt"/>
              </a:rPr>
              <a:t>Serwis umożliwia gospodarzom publikowanie ofert wolontariatu w gospodarstwach, schroniskach, projektach ekologicznych lub społecznych. Wolontariusze przeszukują ogłoszenia według kraju, rodzaju pracy czy długości pobytu, a następnie kontaktują się bezpośrednio z gospodarzami. Rejestracja i komunikacja odbywają się bez opłat, co odróżnia VolunteersBase od płatnych platform, takich jak </a:t>
            </a:r>
            <a:r>
              <a:rPr lang="pl-PL" sz="1900">
                <a:ea typeface="+mn-lt"/>
                <a:cs typeface="+mn-lt"/>
              </a:rPr>
              <a:t>Workaway.</a:t>
            </a:r>
            <a:endParaRPr lang="pl-PL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841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elektronika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344D5B96-368C-D183-9A03-E6D0F8C5F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36" y="0"/>
            <a:ext cx="10940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79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B7EAB425-2077-0F35-C536-5FDC970C3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85" y="0"/>
            <a:ext cx="111510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17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67623D90-AA0D-7B70-50F9-21986E50B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384" y="0"/>
            <a:ext cx="6137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49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6E4B0-C1A4-3800-5657-65C7357C6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0E0D63BF-F9F0-9060-E5BE-4436DA25E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908760"/>
              </p:ext>
            </p:extLst>
          </p:nvPr>
        </p:nvGraphicFramePr>
        <p:xfrm>
          <a:off x="643467" y="1533377"/>
          <a:ext cx="10905067" cy="379124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5352869">
                  <a:extLst>
                    <a:ext uri="{9D8B030D-6E8A-4147-A177-3AD203B41FA5}">
                      <a16:colId xmlns:a16="http://schemas.microsoft.com/office/drawing/2014/main" val="1337812499"/>
                    </a:ext>
                  </a:extLst>
                </a:gridCol>
                <a:gridCol w="5552198">
                  <a:extLst>
                    <a:ext uri="{9D8B030D-6E8A-4147-A177-3AD203B41FA5}">
                      <a16:colId xmlns:a16="http://schemas.microsoft.com/office/drawing/2014/main" val="1429336365"/>
                    </a:ext>
                  </a:extLst>
                </a:gridCol>
              </a:tblGrid>
              <a:tr h="8491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Zalety</a:t>
                      </a:r>
                      <a:endParaRPr lang="pl-PL"/>
                    </a:p>
                  </a:txBody>
                  <a:tcPr marL="233215" marR="179396" marT="179396" marB="179396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Wady</a:t>
                      </a:r>
                      <a:endParaRPr lang="pl-PL"/>
                    </a:p>
                  </a:txBody>
                  <a:tcPr marL="233215" marR="179396" marT="179396" marB="17939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26417"/>
                  </a:ext>
                </a:extLst>
              </a:tr>
              <a:tr h="294210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duża liczba projektów</a:t>
                      </a: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darmowy dostęp do ofert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projekty z wielu krajów</a:t>
                      </a:r>
                      <a:endParaRPr lang="pl-PL"/>
                    </a:p>
                  </a:txBody>
                  <a:tcPr marL="233215" marR="179396" marT="179396" marB="17939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 mniej rozbudowana społeczność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 słabsze filtrowanie ofert</a:t>
                      </a:r>
                      <a:endParaRPr lang="pl-PL"/>
                    </a:p>
                  </a:txBody>
                  <a:tcPr marL="233215" marR="179396" marT="179396" marB="17939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41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000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3175F-9525-239F-EBB7-BE37F6A94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F2A627DF-D890-FC85-135A-FF21E99CC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EB9EE8C-3994-09FE-AE54-F77F5C77E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A3EB94-D150-A049-938E-A3B89638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2" y="404202"/>
            <a:ext cx="3822189" cy="1899912"/>
          </a:xfrm>
        </p:spPr>
        <p:txBody>
          <a:bodyPr>
            <a:normAutofit/>
          </a:bodyPr>
          <a:lstStyle/>
          <a:p>
            <a:r>
              <a:rPr lang="pl-PL" sz="4000">
                <a:ea typeface="+mj-lt"/>
                <a:cs typeface="+mj-lt"/>
              </a:rPr>
              <a:t>E-wolontariat.pl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DB7D222-B34C-CF95-A961-7A61C8FE7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980630"/>
            <a:ext cx="3849403" cy="40511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1900">
                <a:ea typeface="+mn-lt"/>
                <a:cs typeface="+mn-lt"/>
              </a:rPr>
              <a:t>Platformy e-wolontariat.pl i TuDu.org.pl</a:t>
            </a:r>
            <a:r>
              <a:rPr lang="pl-PL" sz="1900" dirty="0">
                <a:ea typeface="+mn-lt"/>
                <a:cs typeface="+mn-lt"/>
              </a:rPr>
              <a:t> </a:t>
            </a:r>
            <a:r>
              <a:rPr lang="pl-PL" sz="1900">
                <a:ea typeface="+mn-lt"/>
                <a:cs typeface="+mn-lt"/>
              </a:rPr>
              <a:t>zostały zintegrowane w jeden system łączący edukację, ogłoszenia i mikro-wolontariat. Użytkownicy mają teraz jedno konto i jedną bazę ofert, a organizacje mogą publikować zarówno długoterminowe projekty, jak i krótkie zadania. Integracja pokazuje trend tworzenia kompleksowych platform łączących funkcje edukacyjne, społecznościowe i operacyjne.</a:t>
            </a:r>
            <a:endParaRPr lang="pl-PL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2900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diagram&#10;&#10;Zawartość wygenerowana przez AI może być niepoprawna.">
            <a:extLst>
              <a:ext uri="{FF2B5EF4-FFF2-40B4-BE49-F238E27FC236}">
                <a16:creationId xmlns:a16="http://schemas.microsoft.com/office/drawing/2014/main" id="{7D395451-F256-7EC5-80A0-E5EA2461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58"/>
            <a:ext cx="12192000" cy="669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elektronika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0905D153-23B7-5769-2BB3-17DA756A3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454" y="0"/>
            <a:ext cx="9819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09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design&#10;&#10;Zawartość wygenerowana przez AI może być niepoprawna.">
            <a:extLst>
              <a:ext uri="{FF2B5EF4-FFF2-40B4-BE49-F238E27FC236}">
                <a16:creationId xmlns:a16="http://schemas.microsoft.com/office/drawing/2014/main" id="{0C9DE7D0-8718-251B-CE07-5D106CBBC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"/>
            <a:ext cx="12192000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47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6857B-EDEC-DE0D-BEB6-652BCD447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E8368EAE-9409-457D-BD45-6DAFE2152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376533"/>
              </p:ext>
            </p:extLst>
          </p:nvPr>
        </p:nvGraphicFramePr>
        <p:xfrm>
          <a:off x="643467" y="1533377"/>
          <a:ext cx="10905067" cy="379124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5352869">
                  <a:extLst>
                    <a:ext uri="{9D8B030D-6E8A-4147-A177-3AD203B41FA5}">
                      <a16:colId xmlns:a16="http://schemas.microsoft.com/office/drawing/2014/main" val="1337812499"/>
                    </a:ext>
                  </a:extLst>
                </a:gridCol>
                <a:gridCol w="5552198">
                  <a:extLst>
                    <a:ext uri="{9D8B030D-6E8A-4147-A177-3AD203B41FA5}">
                      <a16:colId xmlns:a16="http://schemas.microsoft.com/office/drawing/2014/main" val="1429336365"/>
                    </a:ext>
                  </a:extLst>
                </a:gridCol>
              </a:tblGrid>
              <a:tr h="8491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Zalety</a:t>
                      </a:r>
                      <a:endParaRPr lang="pl-PL"/>
                    </a:p>
                  </a:txBody>
                  <a:tcPr marL="233215" marR="179396" marT="179396" marB="179396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Wady</a:t>
                      </a:r>
                      <a:endParaRPr lang="pl-PL"/>
                    </a:p>
                  </a:txBody>
                  <a:tcPr marL="233215" marR="179396" marT="179396" marB="17939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26417"/>
                  </a:ext>
                </a:extLst>
              </a:tr>
              <a:tr h="294210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polski system i lokalne projekty</a:t>
                      </a:r>
                      <a:endParaRPr lang="pl-PL"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promowanie wolontariatu zdalnego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materiały edukacyjne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33215" marR="179396" marT="179396" marB="17939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prosty system wyszukiwania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mniej funkcji społecznościowych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mało intuicyjny system nawigacji strony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33215" marR="179396" marT="179396" marB="17939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41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098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47872-2407-403C-48F0-284BE0AE9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4E6524AB-94AF-5377-B23E-7FB3A26EE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B15BF7F-409D-EEE8-F47D-3E7355E61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ECF714B-6FA5-4A76-40D6-0B21CDEF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2" y="404202"/>
            <a:ext cx="3822189" cy="1899912"/>
          </a:xfrm>
        </p:spPr>
        <p:txBody>
          <a:bodyPr>
            <a:normAutofit/>
          </a:bodyPr>
          <a:lstStyle/>
          <a:p>
            <a:r>
              <a:rPr lang="pl-PL" sz="4000">
                <a:ea typeface="+mj-lt"/>
                <a:cs typeface="+mj-lt"/>
              </a:rPr>
              <a:t>ngo.pl</a:t>
            </a:r>
            <a:endParaRPr lang="pl-PL">
              <a:ea typeface="+mj-lt"/>
              <a:cs typeface="+mj-lt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0086D05-0B55-FCD3-A479-056A46758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980630"/>
            <a:ext cx="3849403" cy="40511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1900">
                <a:ea typeface="+mn-lt"/>
                <a:cs typeface="+mn-lt"/>
              </a:rPr>
              <a:t>Serwis obejmuje sekcje tematyczne dotyczące prawa, finansowania, zarządzania, komunikacji i wolontariatu. Oferuje bazę organizacji, kalendarz wydarzeń, katalog konkursów grantowych oraz artykuły analityczne i poradniki. Ngo.pl prowadzi również newsletter i publikuje raporty o stanie sektora.</a:t>
            </a:r>
            <a:endParaRPr lang="pl-PL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1703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ymbol zastępczy zawartości 6" descr="Obraz zawierający tekst, zrzut ekranu, Czcionka, Drukowanie&#10;&#10;Zawartość wygenerowana przez AI może być niepoprawna.">
            <a:extLst>
              <a:ext uri="{FF2B5EF4-FFF2-40B4-BE49-F238E27FC236}">
                <a16:creationId xmlns:a16="http://schemas.microsoft.com/office/drawing/2014/main" id="{E3D3DE31-67D3-F2A0-9765-A239CC145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0045" y="106240"/>
            <a:ext cx="6757372" cy="665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29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60C86B89-9A6C-B6C7-5EE0-E7D42F7AC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672" y="0"/>
            <a:ext cx="6810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3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AFE90-8CD6-C6F7-F497-70485B637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7006A616-96FF-3361-922E-6C0F0159F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65943"/>
              </p:ext>
            </p:extLst>
          </p:nvPr>
        </p:nvGraphicFramePr>
        <p:xfrm>
          <a:off x="643467" y="1533377"/>
          <a:ext cx="10905067" cy="379124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5352869">
                  <a:extLst>
                    <a:ext uri="{9D8B030D-6E8A-4147-A177-3AD203B41FA5}">
                      <a16:colId xmlns:a16="http://schemas.microsoft.com/office/drawing/2014/main" val="1337812499"/>
                    </a:ext>
                  </a:extLst>
                </a:gridCol>
                <a:gridCol w="5552198">
                  <a:extLst>
                    <a:ext uri="{9D8B030D-6E8A-4147-A177-3AD203B41FA5}">
                      <a16:colId xmlns:a16="http://schemas.microsoft.com/office/drawing/2014/main" val="1429336365"/>
                    </a:ext>
                  </a:extLst>
                </a:gridCol>
              </a:tblGrid>
              <a:tr h="8491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Zalety</a:t>
                      </a:r>
                      <a:endParaRPr lang="pl-PL"/>
                    </a:p>
                  </a:txBody>
                  <a:tcPr marL="233215" marR="179396" marT="179396" marB="179396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Wady</a:t>
                      </a:r>
                      <a:endParaRPr lang="pl-PL"/>
                    </a:p>
                  </a:txBody>
                  <a:tcPr marL="233215" marR="179396" marT="179396" marB="17939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26417"/>
                  </a:ext>
                </a:extLst>
              </a:tr>
              <a:tr h="294210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duża popularność w polskim sektorze NGO</a:t>
                      </a:r>
                      <a:endParaRPr lang="pl-PL"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szeroki zakres ogłoszeń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wiarygodne organizacje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33215" marR="179396" marT="179396" marB="17939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 dirty="0">
                          <a:solidFill>
                            <a:schemeClr val="tx1"/>
                          </a:solidFill>
                          <a:latin typeface="Aptos"/>
                        </a:rPr>
                        <a:t> </a:t>
                      </a: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portal informacyjny, nie typowa platforma społecznościowa</a:t>
                      </a:r>
                      <a:endParaRPr lang="pl-PL"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 ograniczone funkcje interakcji między użytkownikami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 brak systemu opinii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33215" marR="179396" marT="179396" marB="17939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41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875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8A37E-B0CA-4217-149B-D82857288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25B24084-055F-6261-77DA-93B53A57D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70CF08B-BFB8-01F4-7EA4-99A471960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7F55F24-6A56-3B17-662C-F132DB035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2" y="404202"/>
            <a:ext cx="3822189" cy="1899912"/>
          </a:xfrm>
        </p:spPr>
        <p:txBody>
          <a:bodyPr>
            <a:normAutofit/>
          </a:bodyPr>
          <a:lstStyle/>
          <a:p>
            <a:r>
              <a:rPr lang="pl-PL" sz="4000">
                <a:ea typeface="+mj-lt"/>
                <a:cs typeface="+mj-lt"/>
              </a:rPr>
              <a:t>VolunteerSide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525AE7-50BA-C5E0-19E3-396B279E4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980630"/>
            <a:ext cx="3849403" cy="40511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1900">
                <a:ea typeface="+mn-lt"/>
                <a:cs typeface="+mn-lt"/>
              </a:rPr>
              <a:t>VolunteerSide to polska platforma internetowa poświęcona wolontariatowi, łącząca osoby chcące pomagać z organizacjami poszukującymi wolontariuszy. Ułatwia realizację projektów społecznych, promuje kulturę zaangażowania obywatelskiego i wspiera rozwój inicjatyw non-profit w całym kraju.</a:t>
            </a:r>
            <a:endParaRPr lang="pl-PL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8948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ymbol zastępczy zawartości 6" descr="Obraz zawierający tekst, zrzut ekranu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4D1AF578-90CA-964B-04BA-57A1B5ED4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" y="-1221"/>
            <a:ext cx="8817641" cy="6080491"/>
          </a:xfrm>
          <a:prstGeom prst="rect">
            <a:avLst/>
          </a:prstGeom>
        </p:spPr>
      </p:pic>
      <p:pic>
        <p:nvPicPr>
          <p:cNvPr id="8" name="Obraz 7" descr="Obraz zawierający tekst, zrzut ekranu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98AEA0CA-CDAB-FCAA-C8A7-A3974EBA8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207" y="2032000"/>
            <a:ext cx="6734817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24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Drukowanie&#10;&#10;Zawartość wygenerowana przez AI może być niepoprawna.">
            <a:extLst>
              <a:ext uri="{FF2B5EF4-FFF2-40B4-BE49-F238E27FC236}">
                <a16:creationId xmlns:a16="http://schemas.microsoft.com/office/drawing/2014/main" id="{98848F36-656C-8847-470A-D72201A65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660" y="0"/>
            <a:ext cx="6598580" cy="6858000"/>
          </a:xfrm>
          <a:prstGeom prst="rect">
            <a:avLst/>
          </a:prstGeom>
        </p:spPr>
      </p:pic>
      <p:pic>
        <p:nvPicPr>
          <p:cNvPr id="6" name="Obraz 5" descr="Obraz zawierający tekst, zrzut ekranu, dokument, Równolegle&#10;&#10;Zawartość wygenerowana przez AI może być niepoprawna.">
            <a:extLst>
              <a:ext uri="{FF2B5EF4-FFF2-40B4-BE49-F238E27FC236}">
                <a16:creationId xmlns:a16="http://schemas.microsoft.com/office/drawing/2014/main" id="{D77E4B2B-2A51-B755-D03A-8C301A5D0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388" y="0"/>
            <a:ext cx="5475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14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8E234-6E8E-36C8-11C4-0ECF3C16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7AF4044-276A-D026-76FC-BB8BDAA80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394056"/>
              </p:ext>
            </p:extLst>
          </p:nvPr>
        </p:nvGraphicFramePr>
        <p:xfrm>
          <a:off x="643467" y="1533377"/>
          <a:ext cx="10905067" cy="379124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5352869">
                  <a:extLst>
                    <a:ext uri="{9D8B030D-6E8A-4147-A177-3AD203B41FA5}">
                      <a16:colId xmlns:a16="http://schemas.microsoft.com/office/drawing/2014/main" val="1337812499"/>
                    </a:ext>
                  </a:extLst>
                </a:gridCol>
                <a:gridCol w="5552198">
                  <a:extLst>
                    <a:ext uri="{9D8B030D-6E8A-4147-A177-3AD203B41FA5}">
                      <a16:colId xmlns:a16="http://schemas.microsoft.com/office/drawing/2014/main" val="1429336365"/>
                    </a:ext>
                  </a:extLst>
                </a:gridCol>
              </a:tblGrid>
              <a:tr h="8491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Zalety</a:t>
                      </a:r>
                      <a:endParaRPr lang="pl-PL"/>
                    </a:p>
                  </a:txBody>
                  <a:tcPr marL="233215" marR="179396" marT="179396" marB="179396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Wady</a:t>
                      </a:r>
                      <a:endParaRPr lang="pl-PL"/>
                    </a:p>
                  </a:txBody>
                  <a:tcPr marL="233215" marR="179396" marT="179396" marB="17939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26417"/>
                  </a:ext>
                </a:extLst>
              </a:tr>
              <a:tr h="294210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kategorie tematyczne (łatwe przeglądanie)</a:t>
                      </a:r>
                      <a:endParaRPr lang="pl-PL"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różne typy wolontariatu (dla seniorów, zagraniczny, grupowy)</a:t>
                      </a: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33215" marR="179396" marT="179396" marB="17939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 dirty="0">
                          <a:solidFill>
                            <a:schemeClr val="tx1"/>
                          </a:solidFill>
                          <a:latin typeface="Aptos"/>
                        </a:rPr>
                        <a:t> </a:t>
                      </a: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stosunkowo mała liczba ofert</a:t>
                      </a:r>
                      <a:endParaRPr lang="pl-PL"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 ograniczona społeczność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brak systemu opinii</a:t>
                      </a: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33215" marR="179396" marT="179396" marB="17939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41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650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453D5-6C7D-2E03-34FF-762AB4C93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209FDBFE-CFEB-DBF5-F9C4-0F3D5C154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E053342-1D8F-C4BD-A3FA-0575EEA36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9047FAD-85AF-2ECF-1939-5EEDBDF4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85" y="404202"/>
            <a:ext cx="4506034" cy="1899912"/>
          </a:xfrm>
        </p:spPr>
        <p:txBody>
          <a:bodyPr>
            <a:normAutofit/>
          </a:bodyPr>
          <a:lstStyle/>
          <a:p>
            <a:r>
              <a:rPr lang="pl-PL" sz="4000">
                <a:ea typeface="+mj-lt"/>
                <a:cs typeface="+mj-lt"/>
              </a:rPr>
              <a:t>Korpus Solidarności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CFBDFFB-58E1-DED3-3E3B-F6EB0635C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980630"/>
            <a:ext cx="3849403" cy="40511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1900">
                <a:ea typeface="+mn-lt"/>
                <a:cs typeface="+mn-lt"/>
              </a:rPr>
              <a:t>Korpus Solidarności to ogólnopolski program wspierający i promujący wolontariat, realizowany za pośrednictwem strony internetowej korpussolidarnosci.gov.pl. Stanowi inicjatywę państwową mającą na celu rozwój społeczeństwa obywatelskiego poprzez sieć partnerstw między organizacjami pozarządowymi, instytucjami publicznymi i wolontariuszami.</a:t>
            </a:r>
            <a:endParaRPr lang="pl-PL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8912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B8F377DC-42D4-8280-B6FF-754710BBA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27"/>
            <a:ext cx="12192000" cy="653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24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9737E-6562-38AB-285B-B3B164D04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A060FF26-C62A-B41A-718B-5F3DEAA2C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954826"/>
              </p:ext>
            </p:extLst>
          </p:nvPr>
        </p:nvGraphicFramePr>
        <p:xfrm>
          <a:off x="643467" y="1533377"/>
          <a:ext cx="10905067" cy="379124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5352869">
                  <a:extLst>
                    <a:ext uri="{9D8B030D-6E8A-4147-A177-3AD203B41FA5}">
                      <a16:colId xmlns:a16="http://schemas.microsoft.com/office/drawing/2014/main" val="1337812499"/>
                    </a:ext>
                  </a:extLst>
                </a:gridCol>
                <a:gridCol w="5552198">
                  <a:extLst>
                    <a:ext uri="{9D8B030D-6E8A-4147-A177-3AD203B41FA5}">
                      <a16:colId xmlns:a16="http://schemas.microsoft.com/office/drawing/2014/main" val="1429336365"/>
                    </a:ext>
                  </a:extLst>
                </a:gridCol>
              </a:tblGrid>
              <a:tr h="8491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Zalety</a:t>
                      </a:r>
                      <a:endParaRPr lang="pl-PL"/>
                    </a:p>
                  </a:txBody>
                  <a:tcPr marL="233215" marR="179396" marT="179396" marB="179396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Wady</a:t>
                      </a:r>
                      <a:endParaRPr lang="pl-PL"/>
                    </a:p>
                  </a:txBody>
                  <a:tcPr marL="233215" marR="179396" marT="179396" marB="17939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26417"/>
                  </a:ext>
                </a:extLst>
              </a:tr>
              <a:tr h="294210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 dirty="0">
                          <a:solidFill>
                            <a:schemeClr val="tx1"/>
                          </a:solidFill>
                          <a:latin typeface="Aptos"/>
                        </a:rPr>
                        <a:t> </a:t>
                      </a: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oficjalna, wiarygodna platforma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 ogólnopolski zasięg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233215" marR="179396" marT="179396" marB="17939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brak możliwości przeglądania ofert bez zalogowania</a:t>
                      </a:r>
                      <a:endParaRPr lang="pl-PL" sz="2700" b="0" i="0" u="none" strike="noStrike" cap="none" spc="0" noProof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 ograniczona społeczność</a:t>
                      </a:r>
                    </a:p>
                  </a:txBody>
                  <a:tcPr marL="233215" marR="179396" marT="179396" marB="17939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41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70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A37BC-B77A-E6B1-B9BC-68ADEFD1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46F82E5F-88B6-0919-8000-925340BC5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771459B-A5A8-F2F8-774A-E3CC3330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F32E94F-3A23-00A2-C40F-D308DB19E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85" y="404202"/>
            <a:ext cx="5077534" cy="1899912"/>
          </a:xfrm>
        </p:spPr>
        <p:txBody>
          <a:bodyPr>
            <a:normAutofit/>
          </a:bodyPr>
          <a:lstStyle/>
          <a:p>
            <a:r>
              <a:rPr lang="pl-PL" sz="4000">
                <a:ea typeface="+mj-lt"/>
                <a:cs typeface="+mj-lt"/>
              </a:rPr>
              <a:t>Ochotnicy Warszawscy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8396965-87D9-FCA8-A54D-F77E68B22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980630"/>
            <a:ext cx="3849403" cy="40511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1900">
                <a:solidFill>
                  <a:srgbClr val="000000"/>
                </a:solidFill>
                <a:ea typeface="+mn-lt"/>
                <a:cs typeface="+mn-lt"/>
              </a:rPr>
              <a:t>Serwis umożliwia publikowanie ogłoszeń o ofertach wolontariatu, wyszukiwanie inicjatyw według zainteresowań, lokalizacji czy czasu trwania. Użytkownicy mogą tworzyć profile wolontariuszy, zapisywać się na akcje i dokumentować swoje doświadczenia. Instytucje natomiast zyskują narzędzie do rekrutacji i promocji swoich projektów społecznych.</a:t>
            </a:r>
            <a:endParaRPr lang="pl-PL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162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Strona internetow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206049CB-8250-EF01-DC04-5C673DDED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055" y="0"/>
            <a:ext cx="9523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13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050E69DD-EEB4-ADCD-916C-89751B7BF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49" y="0"/>
            <a:ext cx="9349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712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9016A5AD-54CE-7FA4-5AA5-486A1D915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5" y="0"/>
            <a:ext cx="4613189" cy="6858000"/>
          </a:xfrm>
          <a:prstGeom prst="rect">
            <a:avLst/>
          </a:prstGeom>
        </p:spPr>
      </p:pic>
      <p:pic>
        <p:nvPicPr>
          <p:cNvPr id="5" name="Obraz 4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C9D48420-2D8E-E10A-AEF5-75C69F34F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755" y="0"/>
            <a:ext cx="52456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94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296F8789-DEA6-64D9-6FFF-BF867C262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82" y="0"/>
            <a:ext cx="9451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2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52EDEF-76C0-2F47-32DF-28E66ABF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667F6A2A-055D-86CA-3192-C810A951E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709319"/>
              </p:ext>
            </p:extLst>
          </p:nvPr>
        </p:nvGraphicFramePr>
        <p:xfrm>
          <a:off x="643467" y="1533377"/>
          <a:ext cx="10905067" cy="379124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5352869">
                  <a:extLst>
                    <a:ext uri="{9D8B030D-6E8A-4147-A177-3AD203B41FA5}">
                      <a16:colId xmlns:a16="http://schemas.microsoft.com/office/drawing/2014/main" val="1337812499"/>
                    </a:ext>
                  </a:extLst>
                </a:gridCol>
                <a:gridCol w="5552198">
                  <a:extLst>
                    <a:ext uri="{9D8B030D-6E8A-4147-A177-3AD203B41FA5}">
                      <a16:colId xmlns:a16="http://schemas.microsoft.com/office/drawing/2014/main" val="1429336365"/>
                    </a:ext>
                  </a:extLst>
                </a:gridCol>
              </a:tblGrid>
              <a:tr h="8491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Zalety</a:t>
                      </a:r>
                      <a:endParaRPr lang="pl-PL"/>
                    </a:p>
                  </a:txBody>
                  <a:tcPr marL="233215" marR="179396" marT="179396" marB="179396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2700" b="0" cap="none" spc="0">
                          <a:solidFill>
                            <a:schemeClr val="bg1"/>
                          </a:solidFill>
                        </a:rPr>
                        <a:t>Wady</a:t>
                      </a:r>
                      <a:endParaRPr lang="pl-PL"/>
                    </a:p>
                  </a:txBody>
                  <a:tcPr marL="233215" marR="179396" marT="179396" marB="17939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26417"/>
                  </a:ext>
                </a:extLst>
              </a:tr>
              <a:tr h="294210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aktualne oferty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współpraca z instytucjami publicznymi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wiarygodne organizacje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233215" marR="179396" marT="179396" marB="17939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 dirty="0">
                          <a:solidFill>
                            <a:schemeClr val="tx1"/>
                          </a:solidFill>
                          <a:latin typeface="Aptos"/>
                        </a:rPr>
                        <a:t> </a:t>
                      </a: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ograniczona do jednego miasta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pl-PL" sz="2700" b="0" i="0" u="none" strike="noStrike" cap="none" spc="0" noProof="0">
                          <a:solidFill>
                            <a:schemeClr val="tx1"/>
                          </a:solidFill>
                        </a:rPr>
                        <a:t> brak funkcji ogólnopolskich</a:t>
                      </a:r>
                      <a:endParaRPr lang="pl-PL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pl-PL" sz="2700" b="0" i="0" u="none" strike="noStrike" cap="none" spc="0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233215" marR="179396" marT="179396" marB="17939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41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893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ytuł 9">
            <a:extLst>
              <a:ext uri="{FF2B5EF4-FFF2-40B4-BE49-F238E27FC236}">
                <a16:creationId xmlns:a16="http://schemas.microsoft.com/office/drawing/2014/main" id="{96752D4A-4AE2-64C8-0DEB-AC1DB3E7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pl-PL"/>
              <a:t>O co zadbać przy tworzeniu własnej platformy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2" name="Symbol zastępczy zawartości 7">
            <a:extLst>
              <a:ext uri="{FF2B5EF4-FFF2-40B4-BE49-F238E27FC236}">
                <a16:creationId xmlns:a16="http://schemas.microsoft.com/office/drawing/2014/main" id="{B35C6D38-A0CF-D4E5-DDF4-BC9A470D6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51444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412893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39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39</vt:i4>
      </vt:variant>
    </vt:vector>
  </HeadingPairs>
  <TitlesOfParts>
    <vt:vector size="40" baseType="lpstr">
      <vt:lpstr>Motyw pakietu Office</vt:lpstr>
      <vt:lpstr>VolunteerMatch</vt:lpstr>
      <vt:lpstr>Prezentacja programu PowerPoint</vt:lpstr>
      <vt:lpstr>Prezentacja programu PowerPoint</vt:lpstr>
      <vt:lpstr>Prezentacja programu PowerPoint</vt:lpstr>
      <vt:lpstr>Prezentacja programu PowerPoint</vt:lpstr>
      <vt:lpstr>Workaway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VolunteersBase</vt:lpstr>
      <vt:lpstr>Prezentacja programu PowerPoint</vt:lpstr>
      <vt:lpstr>Prezentacja programu PowerPoint</vt:lpstr>
      <vt:lpstr>Prezentacja programu PowerPoint</vt:lpstr>
      <vt:lpstr>Prezentacja programu PowerPoint</vt:lpstr>
      <vt:lpstr>E-wolontariat.pl</vt:lpstr>
      <vt:lpstr>Prezentacja programu PowerPoint</vt:lpstr>
      <vt:lpstr>Prezentacja programu PowerPoint</vt:lpstr>
      <vt:lpstr>Prezentacja programu PowerPoint</vt:lpstr>
      <vt:lpstr>Prezentacja programu PowerPoint</vt:lpstr>
      <vt:lpstr>ngo.pl</vt:lpstr>
      <vt:lpstr>Prezentacja programu PowerPoint</vt:lpstr>
      <vt:lpstr>Prezentacja programu PowerPoint</vt:lpstr>
      <vt:lpstr>Prezentacja programu PowerPoint</vt:lpstr>
      <vt:lpstr>VolunteerSide</vt:lpstr>
      <vt:lpstr>Prezentacja programu PowerPoint</vt:lpstr>
      <vt:lpstr>Prezentacja programu PowerPoint</vt:lpstr>
      <vt:lpstr>Prezentacja programu PowerPoint</vt:lpstr>
      <vt:lpstr>Korpus Solidarności</vt:lpstr>
      <vt:lpstr>Prezentacja programu PowerPoint</vt:lpstr>
      <vt:lpstr>Prezentacja programu PowerPoint</vt:lpstr>
      <vt:lpstr>Ochotnicy Warszawscy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O co zadbać przy tworzeniu własnej platformy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562</cp:revision>
  <dcterms:created xsi:type="dcterms:W3CDTF">2026-03-17T18:11:39Z</dcterms:created>
  <dcterms:modified xsi:type="dcterms:W3CDTF">2026-03-18T13:45:17Z</dcterms:modified>
</cp:coreProperties>
</file>