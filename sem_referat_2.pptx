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91" r:id="rId5"/>
    <p:sldId id="259" r:id="rId6"/>
    <p:sldId id="260" r:id="rId7"/>
    <p:sldId id="271" r:id="rId8"/>
    <p:sldId id="272" r:id="rId9"/>
    <p:sldId id="273" r:id="rId10"/>
    <p:sldId id="274" r:id="rId11"/>
    <p:sldId id="261" r:id="rId12"/>
    <p:sldId id="262" r:id="rId13"/>
    <p:sldId id="275" r:id="rId14"/>
    <p:sldId id="276" r:id="rId15"/>
    <p:sldId id="263" r:id="rId16"/>
    <p:sldId id="278" r:id="rId17"/>
    <p:sldId id="277" r:id="rId18"/>
    <p:sldId id="264" r:id="rId19"/>
    <p:sldId id="289" r:id="rId20"/>
    <p:sldId id="290" r:id="rId21"/>
    <p:sldId id="266" r:id="rId22"/>
    <p:sldId id="279" r:id="rId23"/>
    <p:sldId id="280" r:id="rId24"/>
    <p:sldId id="267" r:id="rId25"/>
    <p:sldId id="281" r:id="rId26"/>
    <p:sldId id="282" r:id="rId27"/>
    <p:sldId id="268" r:id="rId28"/>
    <p:sldId id="283" r:id="rId29"/>
    <p:sldId id="284" r:id="rId30"/>
    <p:sldId id="269" r:id="rId31"/>
    <p:sldId id="285" r:id="rId32"/>
    <p:sldId id="286" r:id="rId33"/>
    <p:sldId id="270" r:id="rId34"/>
    <p:sldId id="287" r:id="rId35"/>
    <p:sldId id="288" r:id="rId36"/>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94FF8A-3B92-3540-1A0A-2CB7E12977FB}" v="10" dt="2026-03-31T14:12:37.558"/>
    <p1510:client id="{8968C8A0-38A3-B5A2-B1DD-3EEA041D7064}" v="186" dt="2026-04-01T00:34:06.239"/>
    <p1510:client id="{9D680DBA-C07E-001E-D59D-323A33E562B9}" v="27" dt="2026-04-01T06:54:50.774"/>
    <p1510:client id="{AC7E768B-B6DC-F32E-15E8-2245D513048C}" v="350" dt="2026-03-31T14:09:12.871"/>
    <p1510:client id="{D9E973FB-A7A9-0D3B-73AB-903C507FAB1C}" v="324" dt="2026-04-01T12:50:50.0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p:cNvSpPr>
            <a:spLocks noGrp="1"/>
          </p:cNvSpPr>
          <p:nvPr>
            <p:ph type="dt" sz="half" idx="10"/>
          </p:nvPr>
        </p:nvSpPr>
        <p:spPr/>
        <p:txBody>
          <a:bodyPr/>
          <a:lstStyle/>
          <a:p>
            <a:fld id="{F98AA868-8872-43E4-8C98-D34DABD1FD38}" type="datetimeFigureOut">
              <a:rPr lang="pl-PL" smtClean="0"/>
              <a:t>01.04.2026</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C77C6C3F-668B-4AF5-BFA9-0F657EB068D6}" type="slidenum">
              <a:rPr lang="pl-PL" smtClean="0"/>
              <a:t>‹#›</a:t>
            </a:fld>
            <a:endParaRPr lang="pl-PL"/>
          </a:p>
        </p:txBody>
      </p:sp>
    </p:spTree>
    <p:extLst>
      <p:ext uri="{BB962C8B-B14F-4D97-AF65-F5344CB8AC3E}">
        <p14:creationId xmlns:p14="http://schemas.microsoft.com/office/powerpoint/2010/main" val="33917574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F98AA868-8872-43E4-8C98-D34DABD1FD38}" type="datetimeFigureOut">
              <a:rPr lang="pl-PL" smtClean="0"/>
              <a:t>01.04.2026</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C77C6C3F-668B-4AF5-BFA9-0F657EB068D6}" type="slidenum">
              <a:rPr lang="pl-PL" smtClean="0"/>
              <a:t>‹#›</a:t>
            </a:fld>
            <a:endParaRPr lang="pl-PL"/>
          </a:p>
        </p:txBody>
      </p:sp>
    </p:spTree>
    <p:extLst>
      <p:ext uri="{BB962C8B-B14F-4D97-AF65-F5344CB8AC3E}">
        <p14:creationId xmlns:p14="http://schemas.microsoft.com/office/powerpoint/2010/main" val="967380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l-PL"/>
              <a:t>Kliknij, aby edytować style wzorca tekstu</a:t>
            </a:r>
          </a:p>
        </p:txBody>
      </p:sp>
      <p:sp>
        <p:nvSpPr>
          <p:cNvPr id="4" name="Symbol zastępczy daty 3"/>
          <p:cNvSpPr>
            <a:spLocks noGrp="1"/>
          </p:cNvSpPr>
          <p:nvPr>
            <p:ph type="dt" sz="half" idx="10"/>
          </p:nvPr>
        </p:nvSpPr>
        <p:spPr/>
        <p:txBody>
          <a:bodyPr/>
          <a:lstStyle/>
          <a:p>
            <a:fld id="{F98AA868-8872-43E4-8C98-D34DABD1FD38}" type="datetimeFigureOut">
              <a:rPr lang="pl-PL" smtClean="0"/>
              <a:t>01.04.2026</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C77C6C3F-668B-4AF5-BFA9-0F657EB068D6}" type="slidenum">
              <a:rPr lang="pl-PL" smtClean="0"/>
              <a:t>‹#›</a:t>
            </a:fld>
            <a:endParaRPr lang="pl-PL"/>
          </a:p>
        </p:txBody>
      </p:sp>
    </p:spTree>
    <p:extLst>
      <p:ext uri="{BB962C8B-B14F-4D97-AF65-F5344CB8AC3E}">
        <p14:creationId xmlns:p14="http://schemas.microsoft.com/office/powerpoint/2010/main" val="13234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p:cNvSpPr>
            <a:spLocks noGrp="1"/>
          </p:cNvSpPr>
          <p:nvPr>
            <p:ph type="dt" sz="half" idx="10"/>
          </p:nvPr>
        </p:nvSpPr>
        <p:spPr/>
        <p:txBody>
          <a:bodyPr/>
          <a:lstStyle/>
          <a:p>
            <a:fld id="{F98AA868-8872-43E4-8C98-D34DABD1FD38}" type="datetimeFigureOut">
              <a:rPr lang="pl-PL" smtClean="0"/>
              <a:t>01.04.2026</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C77C6C3F-668B-4AF5-BFA9-0F657EB068D6}" type="slidenum">
              <a:rPr lang="pl-PL" smtClean="0"/>
              <a:t>‹#›</a:t>
            </a:fld>
            <a:endParaRPr lang="pl-PL"/>
          </a:p>
        </p:txBody>
      </p:sp>
    </p:spTree>
    <p:extLst>
      <p:ext uri="{BB962C8B-B14F-4D97-AF65-F5344CB8AC3E}">
        <p14:creationId xmlns:p14="http://schemas.microsoft.com/office/powerpoint/2010/main" val="3883036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p:cNvSpPr>
            <a:spLocks noGrp="1"/>
          </p:cNvSpPr>
          <p:nvPr>
            <p:ph type="dt" sz="half" idx="10"/>
          </p:nvPr>
        </p:nvSpPr>
        <p:spPr/>
        <p:txBody>
          <a:bodyPr/>
          <a:lstStyle/>
          <a:p>
            <a:fld id="{F98AA868-8872-43E4-8C98-D34DABD1FD38}" type="datetimeFigureOut">
              <a:rPr lang="pl-PL" smtClean="0"/>
              <a:t>01.04.2026</a:t>
            </a:fld>
            <a:endParaRPr lang="pl-PL"/>
          </a:p>
        </p:txBody>
      </p:sp>
      <p:sp>
        <p:nvSpPr>
          <p:cNvPr id="8" name="Symbol zastępczy stopki 7"/>
          <p:cNvSpPr>
            <a:spLocks noGrp="1"/>
          </p:cNvSpPr>
          <p:nvPr>
            <p:ph type="ftr" sz="quarter" idx="11"/>
          </p:nvPr>
        </p:nvSpPr>
        <p:spPr/>
        <p:txBody>
          <a:bodyPr/>
          <a:lstStyle/>
          <a:p>
            <a:endParaRPr lang="pl-PL"/>
          </a:p>
        </p:txBody>
      </p:sp>
      <p:sp>
        <p:nvSpPr>
          <p:cNvPr id="9" name="Symbol zastępczy numeru slajdu 8"/>
          <p:cNvSpPr>
            <a:spLocks noGrp="1"/>
          </p:cNvSpPr>
          <p:nvPr>
            <p:ph type="sldNum" sz="quarter" idx="12"/>
          </p:nvPr>
        </p:nvSpPr>
        <p:spPr/>
        <p:txBody>
          <a:bodyPr/>
          <a:lstStyle/>
          <a:p>
            <a:fld id="{C77C6C3F-668B-4AF5-BFA9-0F657EB068D6}" type="slidenum">
              <a:rPr lang="pl-PL" smtClean="0"/>
              <a:t>‹#›</a:t>
            </a:fld>
            <a:endParaRPr lang="pl-PL"/>
          </a:p>
        </p:txBody>
      </p:sp>
    </p:spTree>
    <p:extLst>
      <p:ext uri="{BB962C8B-B14F-4D97-AF65-F5344CB8AC3E}">
        <p14:creationId xmlns:p14="http://schemas.microsoft.com/office/powerpoint/2010/main" val="961808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2"/>
          <p:cNvSpPr>
            <a:spLocks noGrp="1"/>
          </p:cNvSpPr>
          <p:nvPr>
            <p:ph type="dt" sz="half" idx="10"/>
          </p:nvPr>
        </p:nvSpPr>
        <p:spPr/>
        <p:txBody>
          <a:bodyPr/>
          <a:lstStyle/>
          <a:p>
            <a:fld id="{F98AA868-8872-43E4-8C98-D34DABD1FD38}" type="datetimeFigureOut">
              <a:rPr lang="pl-PL" smtClean="0"/>
              <a:t>01.04.2026</a:t>
            </a:fld>
            <a:endParaRPr lang="pl-PL"/>
          </a:p>
        </p:txBody>
      </p:sp>
      <p:sp>
        <p:nvSpPr>
          <p:cNvPr id="4" name="Symbol zastępczy stopki 3"/>
          <p:cNvSpPr>
            <a:spLocks noGrp="1"/>
          </p:cNvSpPr>
          <p:nvPr>
            <p:ph type="ftr" sz="quarter" idx="11"/>
          </p:nvPr>
        </p:nvSpPr>
        <p:spPr/>
        <p:txBody>
          <a:bodyPr/>
          <a:lstStyle/>
          <a:p>
            <a:endParaRPr lang="pl-PL"/>
          </a:p>
        </p:txBody>
      </p:sp>
      <p:sp>
        <p:nvSpPr>
          <p:cNvPr id="5" name="Symbol zastępczy numeru slajdu 4"/>
          <p:cNvSpPr>
            <a:spLocks noGrp="1"/>
          </p:cNvSpPr>
          <p:nvPr>
            <p:ph type="sldNum" sz="quarter" idx="12"/>
          </p:nvPr>
        </p:nvSpPr>
        <p:spPr/>
        <p:txBody>
          <a:bodyPr/>
          <a:lstStyle/>
          <a:p>
            <a:fld id="{C77C6C3F-668B-4AF5-BFA9-0F657EB068D6}" type="slidenum">
              <a:rPr lang="pl-PL" smtClean="0"/>
              <a:t>‹#›</a:t>
            </a:fld>
            <a:endParaRPr lang="pl-PL"/>
          </a:p>
        </p:txBody>
      </p:sp>
    </p:spTree>
    <p:extLst>
      <p:ext uri="{BB962C8B-B14F-4D97-AF65-F5344CB8AC3E}">
        <p14:creationId xmlns:p14="http://schemas.microsoft.com/office/powerpoint/2010/main" val="1544797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F98AA868-8872-43E4-8C98-D34DABD1FD38}" type="datetimeFigureOut">
              <a:rPr lang="pl-PL" smtClean="0"/>
              <a:t>01.04.2026</a:t>
            </a:fld>
            <a:endParaRPr lang="pl-PL"/>
          </a:p>
        </p:txBody>
      </p:sp>
      <p:sp>
        <p:nvSpPr>
          <p:cNvPr id="3" name="Symbol zastępczy stopki 2"/>
          <p:cNvSpPr>
            <a:spLocks noGrp="1"/>
          </p:cNvSpPr>
          <p:nvPr>
            <p:ph type="ftr" sz="quarter" idx="11"/>
          </p:nvPr>
        </p:nvSpPr>
        <p:spPr/>
        <p:txBody>
          <a:bodyPr/>
          <a:lstStyle/>
          <a:p>
            <a:endParaRPr lang="pl-PL"/>
          </a:p>
        </p:txBody>
      </p:sp>
      <p:sp>
        <p:nvSpPr>
          <p:cNvPr id="4" name="Symbol zastępczy numeru slajdu 3"/>
          <p:cNvSpPr>
            <a:spLocks noGrp="1"/>
          </p:cNvSpPr>
          <p:nvPr>
            <p:ph type="sldNum" sz="quarter" idx="12"/>
          </p:nvPr>
        </p:nvSpPr>
        <p:spPr/>
        <p:txBody>
          <a:bodyPr/>
          <a:lstStyle/>
          <a:p>
            <a:fld id="{C77C6C3F-668B-4AF5-BFA9-0F657EB068D6}" type="slidenum">
              <a:rPr lang="pl-PL" smtClean="0"/>
              <a:t>‹#›</a:t>
            </a:fld>
            <a:endParaRPr lang="pl-PL"/>
          </a:p>
        </p:txBody>
      </p:sp>
    </p:spTree>
    <p:extLst>
      <p:ext uri="{BB962C8B-B14F-4D97-AF65-F5344CB8AC3E}">
        <p14:creationId xmlns:p14="http://schemas.microsoft.com/office/powerpoint/2010/main" val="1850839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F98AA868-8872-43E4-8C98-D34DABD1FD38}" type="datetimeFigureOut">
              <a:rPr lang="pl-PL" smtClean="0"/>
              <a:t>01.04.2026</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C77C6C3F-668B-4AF5-BFA9-0F657EB068D6}" type="slidenum">
              <a:rPr lang="pl-PL" smtClean="0"/>
              <a:t>‹#›</a:t>
            </a:fld>
            <a:endParaRPr lang="pl-PL"/>
          </a:p>
        </p:txBody>
      </p:sp>
    </p:spTree>
    <p:extLst>
      <p:ext uri="{BB962C8B-B14F-4D97-AF65-F5344CB8AC3E}">
        <p14:creationId xmlns:p14="http://schemas.microsoft.com/office/powerpoint/2010/main" val="2715530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F98AA868-8872-43E4-8C98-D34DABD1FD38}" type="datetimeFigureOut">
              <a:rPr lang="pl-PL" smtClean="0"/>
              <a:t>01.04.2026</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C77C6C3F-668B-4AF5-BFA9-0F657EB068D6}" type="slidenum">
              <a:rPr lang="pl-PL" smtClean="0"/>
              <a:t>‹#›</a:t>
            </a:fld>
            <a:endParaRPr lang="pl-PL"/>
          </a:p>
        </p:txBody>
      </p:sp>
    </p:spTree>
    <p:extLst>
      <p:ext uri="{BB962C8B-B14F-4D97-AF65-F5344CB8AC3E}">
        <p14:creationId xmlns:p14="http://schemas.microsoft.com/office/powerpoint/2010/main" val="3024906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F98AA868-8872-43E4-8C98-D34DABD1FD38}" type="datetimeFigureOut">
              <a:rPr lang="pl-PL" smtClean="0"/>
              <a:t>01.04.2026</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C77C6C3F-668B-4AF5-BFA9-0F657EB068D6}" type="slidenum">
              <a:rPr lang="pl-PL" smtClean="0"/>
              <a:t>‹#›</a:t>
            </a:fld>
            <a:endParaRPr lang="pl-PL"/>
          </a:p>
        </p:txBody>
      </p:sp>
    </p:spTree>
    <p:extLst>
      <p:ext uri="{BB962C8B-B14F-4D97-AF65-F5344CB8AC3E}">
        <p14:creationId xmlns:p14="http://schemas.microsoft.com/office/powerpoint/2010/main" val="2454508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F98AA868-8872-43E4-8C98-D34DABD1FD38}" type="datetimeFigureOut">
              <a:rPr lang="pl-PL" smtClean="0"/>
              <a:t>01.04.2026</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C77C6C3F-668B-4AF5-BFA9-0F657EB068D6}" type="slidenum">
              <a:rPr lang="pl-PL" smtClean="0"/>
              <a:t>‹#›</a:t>
            </a:fld>
            <a:endParaRPr lang="pl-PL"/>
          </a:p>
        </p:txBody>
      </p:sp>
    </p:spTree>
    <p:extLst>
      <p:ext uri="{BB962C8B-B14F-4D97-AF65-F5344CB8AC3E}">
        <p14:creationId xmlns:p14="http://schemas.microsoft.com/office/powerpoint/2010/main" val="1340386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98AA868-8872-43E4-8C98-D34DABD1FD38}" type="datetimeFigureOut">
              <a:rPr lang="pl-PL" smtClean="0"/>
              <a:t>01.04.2026</a:t>
            </a:fld>
            <a:endParaRPr lang="pl-PL"/>
          </a:p>
        </p:txBody>
      </p:sp>
      <p:sp>
        <p:nvSpPr>
          <p:cNvPr id="5" name="Symbol zastępczy stopki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l-PL"/>
          </a:p>
        </p:txBody>
      </p:sp>
      <p:sp>
        <p:nvSpPr>
          <p:cNvPr id="6" name="Symbol zastępczy numeru slajd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7C6C3F-668B-4AF5-BFA9-0F657EB068D6}" type="slidenum">
              <a:rPr lang="pl-PL" smtClean="0"/>
              <a:t>‹#›</a:t>
            </a:fld>
            <a:endParaRPr lang="pl-PL"/>
          </a:p>
        </p:txBody>
      </p:sp>
    </p:spTree>
    <p:extLst>
      <p:ext uri="{BB962C8B-B14F-4D97-AF65-F5344CB8AC3E}">
        <p14:creationId xmlns:p14="http://schemas.microsoft.com/office/powerpoint/2010/main" val="39266336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ctrTitle"/>
          </p:nvPr>
        </p:nvSpPr>
        <p:spPr>
          <a:xfrm>
            <a:off x="1524000" y="1864825"/>
            <a:ext cx="9144000" cy="2387600"/>
          </a:xfrm>
        </p:spPr>
        <p:txBody>
          <a:bodyPr>
            <a:normAutofit fontScale="90000"/>
          </a:bodyPr>
          <a:lstStyle/>
          <a:p>
            <a:r>
              <a:rPr lang="pl-PL">
                <a:ea typeface="+mj-lt"/>
                <a:cs typeface="+mj-lt"/>
              </a:rPr>
              <a:t>Zagrożenia dla aplikacji webowych</a:t>
            </a:r>
            <a:br>
              <a:rPr lang="pl-PL">
                <a:ea typeface="+mj-lt"/>
                <a:cs typeface="+mj-lt"/>
              </a:rPr>
            </a:br>
            <a:r>
              <a:rPr lang="pl-PL">
                <a:ea typeface="+mj-lt"/>
                <a:cs typeface="+mj-lt"/>
              </a:rPr>
              <a:t>OWASP Top 10</a:t>
            </a:r>
          </a:p>
        </p:txBody>
      </p:sp>
    </p:spTree>
    <p:extLst>
      <p:ext uri="{BB962C8B-B14F-4D97-AF65-F5344CB8AC3E}">
        <p14:creationId xmlns:p14="http://schemas.microsoft.com/office/powerpoint/2010/main" val="650317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1C70C16-FE1C-110B-17DA-57A1F82F00B3}"/>
              </a:ext>
            </a:extLst>
          </p:cNvPr>
          <p:cNvSpPr>
            <a:spLocks noGrp="1"/>
          </p:cNvSpPr>
          <p:nvPr>
            <p:ph type="title"/>
          </p:nvPr>
        </p:nvSpPr>
        <p:spPr/>
        <p:txBody>
          <a:bodyPr/>
          <a:lstStyle/>
          <a:p>
            <a:r>
              <a:rPr lang="pl-PL"/>
              <a:t>Czym jest OWASP?</a:t>
            </a:r>
          </a:p>
        </p:txBody>
      </p:sp>
      <p:sp>
        <p:nvSpPr>
          <p:cNvPr id="5" name="Symbol zastępczy zawartości 4">
            <a:extLst>
              <a:ext uri="{FF2B5EF4-FFF2-40B4-BE49-F238E27FC236}">
                <a16:creationId xmlns:a16="http://schemas.microsoft.com/office/drawing/2014/main" id="{B5CAC92E-6B94-0C96-9661-B8766A00E42A}"/>
              </a:ext>
            </a:extLst>
          </p:cNvPr>
          <p:cNvSpPr>
            <a:spLocks noGrp="1"/>
          </p:cNvSpPr>
          <p:nvPr>
            <p:ph idx="1"/>
          </p:nvPr>
        </p:nvSpPr>
        <p:spPr/>
        <p:txBody>
          <a:bodyPr vert="horz" lIns="91440" tIns="45720" rIns="91440" bIns="45720" rtlCol="0" anchor="t">
            <a:normAutofit/>
          </a:bodyPr>
          <a:lstStyle/>
          <a:p>
            <a:r>
              <a:rPr lang="pl-PL">
                <a:ea typeface="+mn-lt"/>
                <a:cs typeface="+mn-lt"/>
              </a:rPr>
              <a:t>OWASP – Open Worldwide Application Security Project</a:t>
            </a:r>
          </a:p>
          <a:p>
            <a:r>
              <a:rPr lang="pl-PL">
                <a:ea typeface="+mn-lt"/>
                <a:cs typeface="+mn-lt"/>
              </a:rPr>
              <a:t>OWASP Foundation to organizacja non-profit działająca na rzecz poprawy bezpieczeństwa oprogramowania założona 1 grudnia 2001 r.</a:t>
            </a:r>
            <a:endParaRPr lang="pl-PL"/>
          </a:p>
          <a:p>
            <a:r>
              <a:rPr lang="pl-PL">
                <a:ea typeface="+mn-lt"/>
                <a:cs typeface="+mn-lt"/>
              </a:rPr>
              <a:t>Tworzy społecznościowe projekty open source (kod, dokumentacja, standardy) </a:t>
            </a:r>
            <a:endParaRPr lang="pl-PL"/>
          </a:p>
          <a:p>
            <a:r>
              <a:rPr lang="pl-PL">
                <a:ea typeface="+mn-lt"/>
                <a:cs typeface="+mn-lt"/>
              </a:rPr>
              <a:t>Posiada ponad 250 lokalnych oddziałów na całym świecie </a:t>
            </a:r>
            <a:endParaRPr lang="pl-PL"/>
          </a:p>
          <a:p>
            <a:r>
              <a:rPr lang="pl-PL">
                <a:ea typeface="+mn-lt"/>
                <a:cs typeface="+mn-lt"/>
              </a:rPr>
              <a:t>Skupia dziesiątki tysięcy członków </a:t>
            </a:r>
            <a:endParaRPr lang="pl-PL"/>
          </a:p>
          <a:p>
            <a:r>
              <a:rPr lang="pl-PL">
                <a:ea typeface="+mn-lt"/>
                <a:cs typeface="+mn-lt"/>
              </a:rPr>
              <a:t>Organizuje uznane na świecie szkolenia i konferencje</a:t>
            </a:r>
            <a:endParaRPr lang="pl-PL"/>
          </a:p>
          <a:p>
            <a:endParaRPr lang="pl-PL"/>
          </a:p>
        </p:txBody>
      </p:sp>
    </p:spTree>
    <p:extLst>
      <p:ext uri="{BB962C8B-B14F-4D97-AF65-F5344CB8AC3E}">
        <p14:creationId xmlns:p14="http://schemas.microsoft.com/office/powerpoint/2010/main" val="3537121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B2DDEC0-E939-A8E1-88E5-3CA1D934A5C0}"/>
              </a:ext>
            </a:extLst>
          </p:cNvPr>
          <p:cNvSpPr>
            <a:spLocks noGrp="1"/>
          </p:cNvSpPr>
          <p:nvPr>
            <p:ph type="title"/>
          </p:nvPr>
        </p:nvSpPr>
        <p:spPr/>
        <p:txBody>
          <a:bodyPr/>
          <a:lstStyle/>
          <a:p>
            <a:r>
              <a:rPr lang="pl-PL"/>
              <a:t>Czym jest OWASP Top 10?</a:t>
            </a:r>
          </a:p>
        </p:txBody>
      </p:sp>
      <p:sp>
        <p:nvSpPr>
          <p:cNvPr id="3" name="Symbol zastępczy zawartości 2">
            <a:extLst>
              <a:ext uri="{FF2B5EF4-FFF2-40B4-BE49-F238E27FC236}">
                <a16:creationId xmlns:a16="http://schemas.microsoft.com/office/drawing/2014/main" id="{71D6E06E-6129-5149-7C8C-CC8CBBDF0C29}"/>
              </a:ext>
            </a:extLst>
          </p:cNvPr>
          <p:cNvSpPr>
            <a:spLocks noGrp="1"/>
          </p:cNvSpPr>
          <p:nvPr>
            <p:ph idx="1"/>
          </p:nvPr>
        </p:nvSpPr>
        <p:spPr/>
        <p:txBody>
          <a:bodyPr vert="horz" lIns="91440" tIns="45720" rIns="91440" bIns="45720" rtlCol="0" anchor="t">
            <a:normAutofit/>
          </a:bodyPr>
          <a:lstStyle/>
          <a:p>
            <a:pPr marL="0" indent="0">
              <a:buNone/>
            </a:pPr>
            <a:r>
              <a:rPr lang="pl-PL">
                <a:ea typeface="+mn-lt"/>
                <a:cs typeface="+mn-lt"/>
              </a:rPr>
              <a:t>To zestawienie 10 najważniejszych zagrożeń bezpieczeństwa aplikacji webowych. Lista pokazuje najczęstsze i najgroźniejsze podatności, pomaga programistom i firmom je rozumieć i eliminować.</a:t>
            </a:r>
            <a:endParaRPr lang="pl-PL"/>
          </a:p>
          <a:p>
            <a:pPr marL="0" indent="0">
              <a:buNone/>
            </a:pPr>
            <a:r>
              <a:rPr lang="pl-PL">
                <a:ea typeface="+mn-lt"/>
                <a:cs typeface="+mn-lt"/>
              </a:rPr>
              <a:t>OWASP Top 10 jest aktualizowany co kilka lat. Zmiany wynikają z: </a:t>
            </a:r>
          </a:p>
          <a:p>
            <a:r>
              <a:rPr lang="pl-PL">
                <a:ea typeface="+mn-lt"/>
                <a:cs typeface="+mn-lt"/>
              </a:rPr>
              <a:t>rozwoju technologii (np. mikroserwisy, API) </a:t>
            </a:r>
          </a:p>
          <a:p>
            <a:r>
              <a:rPr lang="pl-PL">
                <a:ea typeface="+mn-lt"/>
                <a:cs typeface="+mn-lt"/>
              </a:rPr>
              <a:t>nowych typów ataków </a:t>
            </a:r>
          </a:p>
          <a:p>
            <a:r>
              <a:rPr lang="pl-PL">
                <a:ea typeface="+mn-lt"/>
                <a:cs typeface="+mn-lt"/>
              </a:rPr>
              <a:t>lepszych danych statystycznych</a:t>
            </a:r>
          </a:p>
          <a:p>
            <a:endParaRPr lang="pl-PL"/>
          </a:p>
        </p:txBody>
      </p:sp>
    </p:spTree>
    <p:extLst>
      <p:ext uri="{BB962C8B-B14F-4D97-AF65-F5344CB8AC3E}">
        <p14:creationId xmlns:p14="http://schemas.microsoft.com/office/powerpoint/2010/main" val="4175647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le tekstowe 3">
            <a:extLst>
              <a:ext uri="{FF2B5EF4-FFF2-40B4-BE49-F238E27FC236}">
                <a16:creationId xmlns:a16="http://schemas.microsoft.com/office/drawing/2014/main" id="{26C0472B-D07F-437B-DAC9-3E07A5B0DE0D}"/>
              </a:ext>
            </a:extLst>
          </p:cNvPr>
          <p:cNvSpPr txBox="1"/>
          <p:nvPr/>
        </p:nvSpPr>
        <p:spPr>
          <a:xfrm>
            <a:off x="8058978" y="1159565"/>
            <a:ext cx="4133023"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2021</a:t>
            </a:r>
            <a:endParaRPr lang="pl-PL">
              <a:ea typeface="+mn-lt"/>
              <a:cs typeface="+mn-lt"/>
            </a:endParaRPr>
          </a:p>
          <a:p>
            <a:pPr marL="285750" indent="-285750">
              <a:buFont typeface="Arial"/>
              <a:buChar char="•"/>
            </a:pPr>
            <a:r>
              <a:rPr lang="en-US">
                <a:ea typeface="+mn-lt"/>
                <a:cs typeface="+mn-lt"/>
              </a:rPr>
              <a:t>A1 - Broken Access Control</a:t>
            </a:r>
          </a:p>
          <a:p>
            <a:pPr marL="285750" indent="-285750">
              <a:buFont typeface="Arial"/>
              <a:buChar char="•"/>
            </a:pPr>
            <a:r>
              <a:rPr lang="en-US">
                <a:ea typeface="+mn-lt"/>
                <a:cs typeface="+mn-lt"/>
              </a:rPr>
              <a:t>A2 - Cryptographic Failures</a:t>
            </a:r>
          </a:p>
          <a:p>
            <a:pPr marL="285750" indent="-285750">
              <a:buFont typeface="Arial"/>
              <a:buChar char="•"/>
            </a:pPr>
            <a:r>
              <a:rPr lang="en-US">
                <a:ea typeface="+mn-lt"/>
                <a:cs typeface="+mn-lt"/>
              </a:rPr>
              <a:t>A3 - Injection</a:t>
            </a:r>
          </a:p>
          <a:p>
            <a:pPr marL="285750" indent="-285750">
              <a:buFont typeface="Arial"/>
              <a:buChar char="•"/>
            </a:pPr>
            <a:r>
              <a:rPr lang="en-US">
                <a:solidFill>
                  <a:srgbClr val="7030A0"/>
                </a:solidFill>
                <a:ea typeface="+mn-lt"/>
                <a:cs typeface="+mn-lt"/>
              </a:rPr>
              <a:t>A4 - Insecure Design</a:t>
            </a:r>
          </a:p>
          <a:p>
            <a:pPr marL="285750" indent="-285750">
              <a:buFont typeface="Arial"/>
              <a:buChar char="•"/>
            </a:pPr>
            <a:r>
              <a:rPr lang="en-US">
                <a:ea typeface="+mn-lt"/>
                <a:cs typeface="+mn-lt"/>
              </a:rPr>
              <a:t>A5 - Security Misconfiguration</a:t>
            </a:r>
          </a:p>
          <a:p>
            <a:pPr marL="285750" indent="-285750">
              <a:buFont typeface="Arial"/>
              <a:buChar char="•"/>
            </a:pPr>
            <a:r>
              <a:rPr lang="en-US">
                <a:ea typeface="+mn-lt"/>
                <a:cs typeface="+mn-lt"/>
              </a:rPr>
              <a:t>A6 - Vulnerable and Outdated Components</a:t>
            </a:r>
          </a:p>
          <a:p>
            <a:pPr marL="285750" indent="-285750">
              <a:buFont typeface="Arial"/>
              <a:buChar char="•"/>
            </a:pPr>
            <a:r>
              <a:rPr lang="en-US">
                <a:ea typeface="+mn-lt"/>
                <a:cs typeface="+mn-lt"/>
              </a:rPr>
              <a:t>A7 - Identification and authentication failures </a:t>
            </a:r>
          </a:p>
          <a:p>
            <a:pPr marL="285750" indent="-285750">
              <a:buFont typeface="Arial"/>
              <a:buChar char="•"/>
            </a:pPr>
            <a:r>
              <a:rPr lang="en-US">
                <a:solidFill>
                  <a:srgbClr val="7030A0"/>
                </a:solidFill>
                <a:ea typeface="+mn-lt"/>
                <a:cs typeface="+mn-lt"/>
              </a:rPr>
              <a:t>A8 - Software and Data Integrity Failures</a:t>
            </a:r>
          </a:p>
          <a:p>
            <a:pPr marL="285750" indent="-285750">
              <a:buFont typeface="Arial"/>
              <a:buChar char="•"/>
            </a:pPr>
            <a:r>
              <a:rPr lang="en-US">
                <a:ea typeface="+mn-lt"/>
                <a:cs typeface="+mn-lt"/>
              </a:rPr>
              <a:t>A9 - Security Logging and Monitoring Failures</a:t>
            </a:r>
          </a:p>
          <a:p>
            <a:pPr marL="285750" indent="-285750">
              <a:buFont typeface="Arial"/>
              <a:buChar char="•"/>
            </a:pPr>
            <a:r>
              <a:rPr lang="en-US">
                <a:solidFill>
                  <a:srgbClr val="7030A0"/>
                </a:solidFill>
                <a:ea typeface="+mn-lt"/>
                <a:cs typeface="+mn-lt"/>
              </a:rPr>
              <a:t>A10 - Server-Side Request Forgery</a:t>
            </a:r>
          </a:p>
          <a:p>
            <a:pPr marL="285750" indent="-285750">
              <a:buFont typeface="Arial"/>
              <a:buChar char="•"/>
            </a:pPr>
            <a:endParaRPr lang="en-US" dirty="0"/>
          </a:p>
        </p:txBody>
      </p:sp>
      <p:sp>
        <p:nvSpPr>
          <p:cNvPr id="5" name="pole tekstowe 4">
            <a:extLst>
              <a:ext uri="{FF2B5EF4-FFF2-40B4-BE49-F238E27FC236}">
                <a16:creationId xmlns:a16="http://schemas.microsoft.com/office/drawing/2014/main" id="{DA9B53C7-C550-BDE1-C4CB-E0F043C1AB13}"/>
              </a:ext>
            </a:extLst>
          </p:cNvPr>
          <p:cNvSpPr txBox="1"/>
          <p:nvPr/>
        </p:nvSpPr>
        <p:spPr>
          <a:xfrm>
            <a:off x="3925955" y="1159565"/>
            <a:ext cx="4260023"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2017</a:t>
            </a:r>
            <a:endParaRPr lang="pl-PL">
              <a:ea typeface="+mn-lt"/>
              <a:cs typeface="+mn-lt"/>
            </a:endParaRPr>
          </a:p>
          <a:p>
            <a:pPr marL="285750" indent="-285750">
              <a:buFont typeface="Arial"/>
              <a:buChar char="•"/>
            </a:pPr>
            <a:r>
              <a:rPr lang="en-US">
                <a:ea typeface="+mn-lt"/>
                <a:cs typeface="+mn-lt"/>
              </a:rPr>
              <a:t>A1 - Injection</a:t>
            </a:r>
          </a:p>
          <a:p>
            <a:pPr marL="285750" indent="-285750">
              <a:buFont typeface="Arial"/>
              <a:buChar char="•"/>
            </a:pPr>
            <a:r>
              <a:rPr lang="en-US">
                <a:ea typeface="+mn-lt"/>
                <a:cs typeface="+mn-lt"/>
              </a:rPr>
              <a:t>A2 - Broken Authentication</a:t>
            </a:r>
          </a:p>
          <a:p>
            <a:pPr marL="285750" indent="-285750">
              <a:buFont typeface="Arial"/>
              <a:buChar char="•"/>
            </a:pPr>
            <a:r>
              <a:rPr lang="en-US">
                <a:ea typeface="+mn-lt"/>
                <a:cs typeface="+mn-lt"/>
              </a:rPr>
              <a:t>A3 - Sensitive Data Exposure</a:t>
            </a:r>
          </a:p>
          <a:p>
            <a:pPr marL="285750" indent="-285750">
              <a:buFont typeface="Arial"/>
              <a:buChar char="•"/>
            </a:pPr>
            <a:r>
              <a:rPr lang="en-US">
                <a:solidFill>
                  <a:srgbClr val="7030A0"/>
                </a:solidFill>
                <a:ea typeface="+mn-lt"/>
                <a:cs typeface="+mn-lt"/>
              </a:rPr>
              <a:t>A4 - XML External Entities (XXE)</a:t>
            </a:r>
          </a:p>
          <a:p>
            <a:pPr marL="285750" indent="-285750">
              <a:buFont typeface="Arial"/>
              <a:buChar char="•"/>
            </a:pPr>
            <a:r>
              <a:rPr lang="en-US">
                <a:solidFill>
                  <a:srgbClr val="7030A0"/>
                </a:solidFill>
                <a:ea typeface="+mn-lt"/>
                <a:cs typeface="+mn-lt"/>
              </a:rPr>
              <a:t>A5 - Broken Access Control </a:t>
            </a:r>
          </a:p>
          <a:p>
            <a:pPr marL="285750" indent="-285750">
              <a:buFont typeface="Arial"/>
              <a:buChar char="•"/>
            </a:pPr>
            <a:r>
              <a:rPr lang="en-US">
                <a:ea typeface="+mn-lt"/>
                <a:cs typeface="+mn-lt"/>
              </a:rPr>
              <a:t>A6 - Security Misconfiguration</a:t>
            </a:r>
          </a:p>
          <a:p>
            <a:pPr marL="285750" indent="-285750">
              <a:buFont typeface="Arial"/>
              <a:buChar char="•"/>
            </a:pPr>
            <a:r>
              <a:rPr lang="en-US">
                <a:ea typeface="+mn-lt"/>
                <a:cs typeface="+mn-lt"/>
              </a:rPr>
              <a:t>A7 - Cross-Site Scripting (XSS)</a:t>
            </a:r>
          </a:p>
          <a:p>
            <a:pPr marL="285750" indent="-285750">
              <a:buFont typeface="Arial"/>
              <a:buChar char="•"/>
            </a:pPr>
            <a:r>
              <a:rPr lang="en-US">
                <a:solidFill>
                  <a:srgbClr val="7030A0"/>
                </a:solidFill>
                <a:ea typeface="+mn-lt"/>
                <a:cs typeface="+mn-lt"/>
              </a:rPr>
              <a:t>A8 - Insecure Deserialization</a:t>
            </a:r>
          </a:p>
          <a:p>
            <a:pPr marL="285750" indent="-285750">
              <a:buFont typeface="Arial"/>
              <a:buChar char="•"/>
            </a:pPr>
            <a:r>
              <a:rPr lang="en-US">
                <a:ea typeface="+mn-lt"/>
                <a:cs typeface="+mn-lt"/>
              </a:rPr>
              <a:t>A9 - Using Components with Known Vulnerabilities</a:t>
            </a:r>
          </a:p>
          <a:p>
            <a:pPr marL="285750" indent="-285750">
              <a:buFont typeface="Arial"/>
              <a:buChar char="•"/>
            </a:pPr>
            <a:r>
              <a:rPr lang="en-US" dirty="0">
                <a:solidFill>
                  <a:srgbClr val="7030A0"/>
                </a:solidFill>
                <a:ea typeface="+mn-lt"/>
                <a:cs typeface="+mn-lt"/>
              </a:rPr>
              <a:t>A10 – </a:t>
            </a:r>
            <a:r>
              <a:rPr lang="en-US">
                <a:solidFill>
                  <a:srgbClr val="7030A0"/>
                </a:solidFill>
                <a:ea typeface="+mn-lt"/>
                <a:cs typeface="+mn-lt"/>
              </a:rPr>
              <a:t>Insufficient Logging</a:t>
            </a:r>
            <a:r>
              <a:rPr lang="en-US" dirty="0">
                <a:solidFill>
                  <a:srgbClr val="7030A0"/>
                </a:solidFill>
                <a:ea typeface="+mn-lt"/>
                <a:cs typeface="+mn-lt"/>
              </a:rPr>
              <a:t> &amp; Monitoring[</a:t>
            </a:r>
            <a:endParaRPr lang="pl-PL">
              <a:solidFill>
                <a:srgbClr val="7030A0"/>
              </a:solidFill>
              <a:ea typeface="+mn-lt"/>
              <a:cs typeface="+mn-lt"/>
            </a:endParaRPr>
          </a:p>
        </p:txBody>
      </p:sp>
      <p:sp>
        <p:nvSpPr>
          <p:cNvPr id="6" name="pole tekstowe 5">
            <a:extLst>
              <a:ext uri="{FF2B5EF4-FFF2-40B4-BE49-F238E27FC236}">
                <a16:creationId xmlns:a16="http://schemas.microsoft.com/office/drawing/2014/main" id="{196ADACA-779D-2094-B094-F5DC1898C466}"/>
              </a:ext>
            </a:extLst>
          </p:cNvPr>
          <p:cNvSpPr txBox="1"/>
          <p:nvPr/>
        </p:nvSpPr>
        <p:spPr>
          <a:xfrm>
            <a:off x="66261" y="1159565"/>
            <a:ext cx="4133022"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2013</a:t>
            </a:r>
            <a:endParaRPr lang="pl-PL">
              <a:ea typeface="+mn-lt"/>
              <a:cs typeface="+mn-lt"/>
            </a:endParaRPr>
          </a:p>
          <a:p>
            <a:pPr marL="285750" indent="-285750">
              <a:buFont typeface="Arial"/>
              <a:buChar char="•"/>
            </a:pPr>
            <a:r>
              <a:rPr lang="en-US">
                <a:ea typeface="+mn-lt"/>
                <a:cs typeface="+mn-lt"/>
              </a:rPr>
              <a:t>A1 – Injection </a:t>
            </a:r>
          </a:p>
          <a:p>
            <a:pPr marL="285750" indent="-285750">
              <a:buFont typeface="Arial"/>
              <a:buChar char="•"/>
            </a:pPr>
            <a:r>
              <a:rPr lang="en-US">
                <a:ea typeface="+mn-lt"/>
                <a:cs typeface="+mn-lt"/>
              </a:rPr>
              <a:t>A2 – Broken Authentication and Session Management </a:t>
            </a:r>
          </a:p>
          <a:p>
            <a:pPr marL="285750" indent="-285750">
              <a:buFont typeface="Arial"/>
              <a:buChar char="•"/>
            </a:pPr>
            <a:r>
              <a:rPr lang="en-US">
                <a:ea typeface="+mn-lt"/>
                <a:cs typeface="+mn-lt"/>
              </a:rPr>
              <a:t>A3 – Cross-Site Scripting (XSS) </a:t>
            </a:r>
          </a:p>
          <a:p>
            <a:pPr marL="285750" indent="-285750">
              <a:buFont typeface="Arial"/>
              <a:buChar char="•"/>
            </a:pPr>
            <a:r>
              <a:rPr lang="en-US">
                <a:ea typeface="+mn-lt"/>
                <a:cs typeface="+mn-lt"/>
              </a:rPr>
              <a:t>A4 – Insecure Direct Object References </a:t>
            </a:r>
          </a:p>
          <a:p>
            <a:pPr marL="285750" indent="-285750">
              <a:buFont typeface="Arial"/>
              <a:buChar char="•"/>
            </a:pPr>
            <a:r>
              <a:rPr lang="en-US">
                <a:ea typeface="+mn-lt"/>
                <a:cs typeface="+mn-lt"/>
              </a:rPr>
              <a:t>A5 – Security Misconfiguration </a:t>
            </a:r>
          </a:p>
          <a:p>
            <a:pPr marL="285750" indent="-285750">
              <a:buFont typeface="Arial"/>
              <a:buChar char="•"/>
            </a:pPr>
            <a:r>
              <a:rPr lang="en-US">
                <a:ea typeface="+mn-lt"/>
                <a:cs typeface="+mn-lt"/>
              </a:rPr>
              <a:t>A6 – Sensitive Data Exposure </a:t>
            </a:r>
          </a:p>
          <a:p>
            <a:pPr marL="285750" indent="-285750">
              <a:buFont typeface="Arial"/>
              <a:buChar char="•"/>
            </a:pPr>
            <a:r>
              <a:rPr lang="en-US">
                <a:ea typeface="+mn-lt"/>
                <a:cs typeface="+mn-lt"/>
              </a:rPr>
              <a:t>A7 – Missing Function Level Access Control </a:t>
            </a:r>
          </a:p>
          <a:p>
            <a:pPr marL="285750" indent="-285750">
              <a:buFont typeface="Arial"/>
              <a:buChar char="•"/>
            </a:pPr>
            <a:r>
              <a:rPr lang="en-US">
                <a:ea typeface="+mn-lt"/>
                <a:cs typeface="+mn-lt"/>
              </a:rPr>
              <a:t>A8 – Cross-Site Request Forgery (CSRF) </a:t>
            </a:r>
          </a:p>
          <a:p>
            <a:pPr marL="285750" indent="-285750">
              <a:buFont typeface="Arial"/>
              <a:buChar char="•"/>
            </a:pPr>
            <a:r>
              <a:rPr lang="en-US">
                <a:ea typeface="+mn-lt"/>
                <a:cs typeface="+mn-lt"/>
              </a:rPr>
              <a:t>A9 – Using Known Vulnerable Components </a:t>
            </a:r>
          </a:p>
          <a:p>
            <a:pPr marL="285750" indent="-285750">
              <a:buFont typeface="Arial"/>
              <a:buChar char="•"/>
            </a:pPr>
            <a:r>
              <a:rPr lang="en-US">
                <a:ea typeface="+mn-lt"/>
                <a:cs typeface="+mn-lt"/>
              </a:rPr>
              <a:t>A10 – Unvalidated Redirects and Forwards </a:t>
            </a:r>
          </a:p>
          <a:p>
            <a:pPr marL="285750" indent="-285750">
              <a:buFont typeface="Arial"/>
              <a:buChar char="•"/>
            </a:pPr>
            <a:endParaRPr lang="en-US" dirty="0"/>
          </a:p>
        </p:txBody>
      </p:sp>
      <p:sp>
        <p:nvSpPr>
          <p:cNvPr id="7" name="Strzałka: w prawo 6">
            <a:extLst>
              <a:ext uri="{FF2B5EF4-FFF2-40B4-BE49-F238E27FC236}">
                <a16:creationId xmlns:a16="http://schemas.microsoft.com/office/drawing/2014/main" id="{D0AD639A-E41D-423D-789F-473548DEBD6E}"/>
              </a:ext>
            </a:extLst>
          </p:cNvPr>
          <p:cNvSpPr/>
          <p:nvPr/>
        </p:nvSpPr>
        <p:spPr>
          <a:xfrm>
            <a:off x="3219277" y="2599442"/>
            <a:ext cx="703384" cy="1953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 name="Strzałka: w prawo 7">
            <a:extLst>
              <a:ext uri="{FF2B5EF4-FFF2-40B4-BE49-F238E27FC236}">
                <a16:creationId xmlns:a16="http://schemas.microsoft.com/office/drawing/2014/main" id="{6E5AB73F-905D-889B-5B2C-74A2804CDAD7}"/>
              </a:ext>
            </a:extLst>
          </p:cNvPr>
          <p:cNvSpPr/>
          <p:nvPr/>
        </p:nvSpPr>
        <p:spPr>
          <a:xfrm rot="18600000">
            <a:off x="3141123" y="3117212"/>
            <a:ext cx="1191845" cy="1953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 name="Strzałka: w prawo 8">
            <a:extLst>
              <a:ext uri="{FF2B5EF4-FFF2-40B4-BE49-F238E27FC236}">
                <a16:creationId xmlns:a16="http://schemas.microsoft.com/office/drawing/2014/main" id="{4717BE4F-4DE4-1409-53F8-580F6DD9F1C0}"/>
              </a:ext>
            </a:extLst>
          </p:cNvPr>
          <p:cNvSpPr/>
          <p:nvPr/>
        </p:nvSpPr>
        <p:spPr>
          <a:xfrm rot="19320000">
            <a:off x="7061005" y="2626127"/>
            <a:ext cx="1563077" cy="1465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1" name="Strzałka: w prawo 10">
            <a:extLst>
              <a:ext uri="{FF2B5EF4-FFF2-40B4-BE49-F238E27FC236}">
                <a16:creationId xmlns:a16="http://schemas.microsoft.com/office/drawing/2014/main" id="{3D45A24B-50A8-DCF6-E4CE-E63459744DDC}"/>
              </a:ext>
            </a:extLst>
          </p:cNvPr>
          <p:cNvSpPr/>
          <p:nvPr/>
        </p:nvSpPr>
        <p:spPr>
          <a:xfrm rot="780000">
            <a:off x="7418097" y="2508966"/>
            <a:ext cx="840154" cy="1856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2" name="Strzałka: w prawo 21">
            <a:extLst>
              <a:ext uri="{FF2B5EF4-FFF2-40B4-BE49-F238E27FC236}">
                <a16:creationId xmlns:a16="http://schemas.microsoft.com/office/drawing/2014/main" id="{CE562F9C-A51D-0A28-6721-E542A9836DFC}"/>
              </a:ext>
            </a:extLst>
          </p:cNvPr>
          <p:cNvSpPr/>
          <p:nvPr/>
        </p:nvSpPr>
        <p:spPr>
          <a:xfrm rot="1500000">
            <a:off x="7155915" y="3749595"/>
            <a:ext cx="1201615" cy="1563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1249520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7"/>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9"/>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xit" presetSubtype="0" fill="hold" grpId="1" nodeType="clickEffect">
                                  <p:stCondLst>
                                    <p:cond delay="0"/>
                                  </p:stCondLst>
                                  <p:childTnLst>
                                    <p:set>
                                      <p:cBhvr>
                                        <p:cTn id="49" dur="1" fill="hold">
                                          <p:stCondLst>
                                            <p:cond delay="0"/>
                                          </p:stCondLst>
                                        </p:cTn>
                                        <p:tgtEl>
                                          <p:spTgt spid="11"/>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500"/>
                                        <p:tgtEl>
                                          <p:spTgt spid="22"/>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7" grpId="1" animBg="1"/>
      <p:bldP spid="8" grpId="0" animBg="1"/>
      <p:bldP spid="8" grpId="1" animBg="1"/>
      <p:bldP spid="9" grpId="0" animBg="1"/>
      <p:bldP spid="9" grpId="1" animBg="1"/>
      <p:bldP spid="11" grpId="0" animBg="1"/>
      <p:bldP spid="11" grpId="1" animBg="1"/>
      <p:bldP spid="22" grpId="0" animBg="1"/>
      <p:bldP spid="22"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C5127F5-322E-13D4-4195-8B4343B6513C}"/>
              </a:ext>
            </a:extLst>
          </p:cNvPr>
          <p:cNvSpPr>
            <a:spLocks noGrp="1"/>
          </p:cNvSpPr>
          <p:nvPr>
            <p:ph type="title"/>
          </p:nvPr>
        </p:nvSpPr>
        <p:spPr/>
        <p:txBody>
          <a:bodyPr/>
          <a:lstStyle/>
          <a:p>
            <a:r>
              <a:rPr lang="pl-PL"/>
              <a:t>OWASP Top 10 2025</a:t>
            </a:r>
          </a:p>
        </p:txBody>
      </p:sp>
      <p:sp>
        <p:nvSpPr>
          <p:cNvPr id="3" name="Symbol zastępczy zawartości 2">
            <a:extLst>
              <a:ext uri="{FF2B5EF4-FFF2-40B4-BE49-F238E27FC236}">
                <a16:creationId xmlns:a16="http://schemas.microsoft.com/office/drawing/2014/main" id="{3C2C4C41-84BB-E8FF-8CDA-26450F31949E}"/>
              </a:ext>
            </a:extLst>
          </p:cNvPr>
          <p:cNvSpPr>
            <a:spLocks noGrp="1"/>
          </p:cNvSpPr>
          <p:nvPr>
            <p:ph idx="1"/>
          </p:nvPr>
        </p:nvSpPr>
        <p:spPr>
          <a:xfrm>
            <a:off x="838200" y="1439921"/>
            <a:ext cx="10515600" cy="4351338"/>
          </a:xfrm>
        </p:spPr>
        <p:txBody>
          <a:bodyPr vert="horz" lIns="91440" tIns="45720" rIns="91440" bIns="45720" rtlCol="0" anchor="t">
            <a:noAutofit/>
          </a:bodyPr>
          <a:lstStyle/>
          <a:p>
            <a:r>
              <a:rPr lang="pl-PL">
                <a:ea typeface="+mn-lt"/>
                <a:cs typeface="+mn-lt"/>
              </a:rPr>
              <a:t>A01:2025 - Broken Access Control</a:t>
            </a:r>
            <a:endParaRPr lang="pl-PL"/>
          </a:p>
          <a:p>
            <a:r>
              <a:rPr lang="pl-PL">
                <a:ea typeface="+mn-lt"/>
                <a:cs typeface="+mn-lt"/>
              </a:rPr>
              <a:t>A02:2025 - Security Misconfiguration</a:t>
            </a:r>
            <a:endParaRPr lang="pl-PL"/>
          </a:p>
          <a:p>
            <a:r>
              <a:rPr lang="pl-PL">
                <a:ea typeface="+mn-lt"/>
                <a:cs typeface="+mn-lt"/>
              </a:rPr>
              <a:t>A03:2025 - Software Supply Chain Failures</a:t>
            </a:r>
            <a:endParaRPr lang="pl-PL"/>
          </a:p>
          <a:p>
            <a:r>
              <a:rPr lang="pl-PL">
                <a:ea typeface="+mn-lt"/>
                <a:cs typeface="+mn-lt"/>
              </a:rPr>
              <a:t>A04:2025 - Cryptographic Failures</a:t>
            </a:r>
            <a:endParaRPr lang="pl-PL"/>
          </a:p>
          <a:p>
            <a:r>
              <a:rPr lang="pl-PL">
                <a:ea typeface="+mn-lt"/>
                <a:cs typeface="+mn-lt"/>
              </a:rPr>
              <a:t>A05:2025 - Injection</a:t>
            </a:r>
            <a:endParaRPr lang="pl-PL"/>
          </a:p>
          <a:p>
            <a:r>
              <a:rPr lang="pl-PL">
                <a:ea typeface="+mn-lt"/>
                <a:cs typeface="+mn-lt"/>
              </a:rPr>
              <a:t>A06:2025 - Insecure Design</a:t>
            </a:r>
            <a:endParaRPr lang="pl-PL"/>
          </a:p>
          <a:p>
            <a:r>
              <a:rPr lang="pl-PL">
                <a:ea typeface="+mn-lt"/>
                <a:cs typeface="+mn-lt"/>
              </a:rPr>
              <a:t>A07:2025 - Authentication Failures</a:t>
            </a:r>
            <a:endParaRPr lang="pl-PL"/>
          </a:p>
          <a:p>
            <a:r>
              <a:rPr lang="pl-PL">
                <a:ea typeface="+mn-lt"/>
                <a:cs typeface="+mn-lt"/>
              </a:rPr>
              <a:t>A08:2025 - Software or Data Integrity Failures</a:t>
            </a:r>
            <a:endParaRPr lang="pl-PL"/>
          </a:p>
          <a:p>
            <a:r>
              <a:rPr lang="pl-PL">
                <a:ea typeface="+mn-lt"/>
                <a:cs typeface="+mn-lt"/>
              </a:rPr>
              <a:t>A09:2025 - Security Logging and Alerting Failures</a:t>
            </a:r>
            <a:endParaRPr lang="pl-PL"/>
          </a:p>
          <a:p>
            <a:r>
              <a:rPr lang="pl-PL">
                <a:ea typeface="+mn-lt"/>
                <a:cs typeface="+mn-lt"/>
              </a:rPr>
              <a:t>A10:2025 - Mishandling of Exceptional Conditions</a:t>
            </a:r>
            <a:endParaRPr lang="pl-PL"/>
          </a:p>
          <a:p>
            <a:endParaRPr lang="pl-PL"/>
          </a:p>
        </p:txBody>
      </p:sp>
    </p:spTree>
    <p:extLst>
      <p:ext uri="{BB962C8B-B14F-4D97-AF65-F5344CB8AC3E}">
        <p14:creationId xmlns:p14="http://schemas.microsoft.com/office/powerpoint/2010/main" val="847542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008E417-BD7E-6401-52EB-CD40BC347AFB}"/>
              </a:ext>
            </a:extLst>
          </p:cNvPr>
          <p:cNvSpPr>
            <a:spLocks noGrp="1"/>
          </p:cNvSpPr>
          <p:nvPr>
            <p:ph type="ctrTitle"/>
          </p:nvPr>
        </p:nvSpPr>
        <p:spPr/>
        <p:txBody>
          <a:bodyPr>
            <a:noAutofit/>
          </a:bodyPr>
          <a:lstStyle/>
          <a:p>
            <a:r>
              <a:rPr lang="pl-PL" sz="5400">
                <a:latin typeface="Aptos"/>
              </a:rPr>
              <a:t>Broken Access Control</a:t>
            </a:r>
          </a:p>
        </p:txBody>
      </p:sp>
      <p:sp>
        <p:nvSpPr>
          <p:cNvPr id="3" name="Symbol zastępczy zawartości 2">
            <a:extLst>
              <a:ext uri="{FF2B5EF4-FFF2-40B4-BE49-F238E27FC236}">
                <a16:creationId xmlns:a16="http://schemas.microsoft.com/office/drawing/2014/main" id="{B8C249CF-BCCC-1C82-F3F2-7E811AAFEAC3}"/>
              </a:ext>
            </a:extLst>
          </p:cNvPr>
          <p:cNvSpPr>
            <a:spLocks noGrp="1"/>
          </p:cNvSpPr>
          <p:nvPr>
            <p:ph type="subTitle" idx="1"/>
          </p:nvPr>
        </p:nvSpPr>
        <p:spPr/>
        <p:txBody>
          <a:bodyPr vert="horz" lIns="91440" tIns="45720" rIns="91440" bIns="45720" rtlCol="0" anchor="t">
            <a:normAutofit/>
          </a:bodyPr>
          <a:lstStyle/>
          <a:p>
            <a:pPr marL="0" indent="0">
              <a:buNone/>
            </a:pPr>
            <a:r>
              <a:rPr lang="pl-PL" sz="2000"/>
              <a:t>To sytuacja, w której aplikacja nie pilnuje, kto ma prawo do jakiej operacji lub danych. Skutek bywa prosty: ktoś może podejrzeć cudze dane, zmienić je, usunąć albo wykonać akcję zarezerwowaną dla wyższych uprawnień.</a:t>
            </a:r>
            <a:endParaRPr lang="en-US" sz="2000"/>
          </a:p>
        </p:txBody>
      </p:sp>
    </p:spTree>
    <p:extLst>
      <p:ext uri="{BB962C8B-B14F-4D97-AF65-F5344CB8AC3E}">
        <p14:creationId xmlns:p14="http://schemas.microsoft.com/office/powerpoint/2010/main" val="1981655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47D71-CB7C-0EDD-F010-76094B780BBE}"/>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60A84381-883D-07A1-2EFC-F24CE6FC30AA}"/>
              </a:ext>
            </a:extLst>
          </p:cNvPr>
          <p:cNvSpPr>
            <a:spLocks noGrp="1"/>
          </p:cNvSpPr>
          <p:nvPr>
            <p:ph type="title"/>
          </p:nvPr>
        </p:nvSpPr>
        <p:spPr>
          <a:xfrm>
            <a:off x="838200" y="365125"/>
            <a:ext cx="10515600" cy="572971"/>
          </a:xfrm>
        </p:spPr>
        <p:txBody>
          <a:bodyPr>
            <a:normAutofit/>
          </a:bodyPr>
          <a:lstStyle/>
          <a:p>
            <a:r>
              <a:rPr lang="pl-PL" sz="2800">
                <a:latin typeface="Aptos"/>
              </a:rPr>
              <a:t>Broken Access Control (40 CWEs)</a:t>
            </a:r>
          </a:p>
        </p:txBody>
      </p:sp>
      <p:sp>
        <p:nvSpPr>
          <p:cNvPr id="3" name="Symbol zastępczy zawartości 2">
            <a:extLst>
              <a:ext uri="{FF2B5EF4-FFF2-40B4-BE49-F238E27FC236}">
                <a16:creationId xmlns:a16="http://schemas.microsoft.com/office/drawing/2014/main" id="{8F52B692-D2F1-A00E-E6E4-463E019B88FF}"/>
              </a:ext>
            </a:extLst>
          </p:cNvPr>
          <p:cNvSpPr>
            <a:spLocks noGrp="1"/>
          </p:cNvSpPr>
          <p:nvPr>
            <p:ph idx="1"/>
          </p:nvPr>
        </p:nvSpPr>
        <p:spPr>
          <a:xfrm>
            <a:off x="838200" y="1025996"/>
            <a:ext cx="10515600" cy="5150967"/>
          </a:xfrm>
        </p:spPr>
        <p:txBody>
          <a:bodyPr vert="horz" lIns="91440" tIns="45720" rIns="91440" bIns="45720" rtlCol="0" anchor="t">
            <a:normAutofit/>
          </a:bodyPr>
          <a:lstStyle/>
          <a:p>
            <a:r>
              <a:rPr lang="pl-PL" sz="2000" b="1">
                <a:ea typeface="+mn-lt"/>
                <a:cs typeface="+mn-lt"/>
              </a:rPr>
              <a:t>CWE-284 (Improper Access Control)</a:t>
            </a:r>
            <a:r>
              <a:rPr lang="pl-PL" sz="2000">
                <a:ea typeface="+mn-lt"/>
                <a:cs typeface="+mn-lt"/>
              </a:rPr>
              <a:t> — System nie ogranicza poprawnie dostępu do zasobów, przez co użytkownicy mogą wykonywać operacje, do których nie powinni mieć uprawnień. </a:t>
            </a:r>
            <a:endParaRPr lang="pl-PL" sz="2000"/>
          </a:p>
          <a:p>
            <a:r>
              <a:rPr lang="pl-PL" sz="2000" b="1">
                <a:ea typeface="+mn-lt"/>
                <a:cs typeface="+mn-lt"/>
              </a:rPr>
              <a:t>CWE-285 (Improper Authorization)</a:t>
            </a:r>
            <a:r>
              <a:rPr lang="pl-PL" sz="2000">
                <a:ea typeface="+mn-lt"/>
                <a:cs typeface="+mn-lt"/>
              </a:rPr>
              <a:t> — Aplikacja nie sprawdza właściwie, czy użytkownik ma prawo wykonać daną akcję. </a:t>
            </a:r>
            <a:endParaRPr lang="pl-PL" sz="2000"/>
          </a:p>
          <a:p>
            <a:r>
              <a:rPr lang="pl-PL" sz="2000" b="1">
                <a:ea typeface="+mn-lt"/>
                <a:cs typeface="+mn-lt"/>
              </a:rPr>
              <a:t>CWE-862 (Missing Authorization)</a:t>
            </a:r>
            <a:r>
              <a:rPr lang="pl-PL" sz="2000">
                <a:ea typeface="+mn-lt"/>
                <a:cs typeface="+mn-lt"/>
              </a:rPr>
              <a:t> — Brak mechanizmu autoryzacji dla danej operacji, co pozwala każdemu ją wykonać. </a:t>
            </a:r>
            <a:endParaRPr lang="pl-PL" sz="2000"/>
          </a:p>
          <a:p>
            <a:r>
              <a:rPr lang="pl-PL" sz="2000" b="1">
                <a:ea typeface="+mn-lt"/>
                <a:cs typeface="+mn-lt"/>
              </a:rPr>
              <a:t>CWE-863 (Incorrect Authorization)</a:t>
            </a:r>
            <a:r>
              <a:rPr lang="pl-PL" sz="2000">
                <a:ea typeface="+mn-lt"/>
                <a:cs typeface="+mn-lt"/>
              </a:rPr>
              <a:t> — Autoryzacja istnieje, ale działa błędnie i pozwala ominąć ograniczenia. </a:t>
            </a:r>
            <a:endParaRPr lang="pl-PL" sz="2000"/>
          </a:p>
          <a:p>
            <a:r>
              <a:rPr lang="pl-PL" sz="2000" b="1">
                <a:ea typeface="+mn-lt"/>
                <a:cs typeface="+mn-lt"/>
              </a:rPr>
              <a:t>CWE-918 (Server-Side Request Forgery, SSRF)</a:t>
            </a:r>
            <a:r>
              <a:rPr lang="pl-PL" sz="2000">
                <a:ea typeface="+mn-lt"/>
                <a:cs typeface="+mn-lt"/>
              </a:rPr>
              <a:t> — Aplikacja wykonuje żądania do innych systemów na podstawie danych użytkownika, co pozwala atakującemu uzyskać dostęp do wewnętrznych zasobów.</a:t>
            </a:r>
            <a:endParaRPr lang="pl-PL" sz="2000"/>
          </a:p>
          <a:p>
            <a:endParaRPr lang="pl-PL" sz="2000"/>
          </a:p>
        </p:txBody>
      </p:sp>
    </p:spTree>
    <p:extLst>
      <p:ext uri="{BB962C8B-B14F-4D97-AF65-F5344CB8AC3E}">
        <p14:creationId xmlns:p14="http://schemas.microsoft.com/office/powerpoint/2010/main" val="3034511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7E7E6-5454-377B-562B-81C200607D35}"/>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1FE31877-D7DB-4DAC-1AA0-39808ED37AD0}"/>
              </a:ext>
            </a:extLst>
          </p:cNvPr>
          <p:cNvSpPr>
            <a:spLocks noGrp="1"/>
          </p:cNvSpPr>
          <p:nvPr>
            <p:ph type="title"/>
          </p:nvPr>
        </p:nvSpPr>
        <p:spPr>
          <a:xfrm>
            <a:off x="838200" y="365125"/>
            <a:ext cx="10515600" cy="572971"/>
          </a:xfrm>
        </p:spPr>
        <p:txBody>
          <a:bodyPr>
            <a:normAutofit/>
          </a:bodyPr>
          <a:lstStyle/>
          <a:p>
            <a:r>
              <a:rPr lang="pl-PL" sz="2800">
                <a:latin typeface="Aptos"/>
              </a:rPr>
              <a:t>Broken Access Control</a:t>
            </a:r>
          </a:p>
        </p:txBody>
      </p:sp>
      <p:sp>
        <p:nvSpPr>
          <p:cNvPr id="3" name="Symbol zastępczy zawartości 2">
            <a:extLst>
              <a:ext uri="{FF2B5EF4-FFF2-40B4-BE49-F238E27FC236}">
                <a16:creationId xmlns:a16="http://schemas.microsoft.com/office/drawing/2014/main" id="{3E8E7D23-1EC4-868A-A547-2423E658E5DA}"/>
              </a:ext>
            </a:extLst>
          </p:cNvPr>
          <p:cNvSpPr>
            <a:spLocks noGrp="1"/>
          </p:cNvSpPr>
          <p:nvPr>
            <p:ph idx="1"/>
          </p:nvPr>
        </p:nvSpPr>
        <p:spPr>
          <a:xfrm>
            <a:off x="838200" y="1025996"/>
            <a:ext cx="10515600" cy="5150967"/>
          </a:xfrm>
        </p:spPr>
        <p:txBody>
          <a:bodyPr vert="horz" lIns="91440" tIns="45720" rIns="91440" bIns="45720" rtlCol="0" anchor="t">
            <a:normAutofit fontScale="92500" lnSpcReduction="10000"/>
          </a:bodyPr>
          <a:lstStyle/>
          <a:p>
            <a:pPr>
              <a:lnSpc>
                <a:spcPct val="80000"/>
              </a:lnSpc>
            </a:pPr>
            <a:r>
              <a:rPr lang="pl-PL" sz="2000">
                <a:ea typeface="+mn-lt"/>
                <a:cs typeface="+mn-lt"/>
              </a:rPr>
              <a:t>Wymuszanie kontroli dostępu po stronie serwera</a:t>
            </a:r>
            <a:br>
              <a:rPr lang="pl-PL" sz="2000">
                <a:ea typeface="+mn-lt"/>
                <a:cs typeface="+mn-lt"/>
              </a:rPr>
            </a:br>
            <a:r>
              <a:rPr lang="pl-PL" sz="2000">
                <a:ea typeface="+mn-lt"/>
                <a:cs typeface="+mn-lt"/>
              </a:rPr>
              <a:t> Kontrola dostępu powinna być realizowana wyłącznie w zaufanym kodzie serwera lub w serverless API, a nie w logice po stronie klienta. Dzięki temu atakujący nie może zmodyfikować warunku sprawdzającego uprawnienia ani metadanych używanych do decyzji. </a:t>
            </a:r>
            <a:endParaRPr lang="pl-PL"/>
          </a:p>
          <a:p>
            <a:pPr>
              <a:lnSpc>
                <a:spcPct val="80000"/>
              </a:lnSpc>
            </a:pPr>
            <a:r>
              <a:rPr lang="pl-PL" sz="2000">
                <a:ea typeface="+mn-lt"/>
                <a:cs typeface="+mn-lt"/>
              </a:rPr>
              <a:t>Domyślna odmowa dostępu</a:t>
            </a:r>
            <a:br>
              <a:rPr lang="pl-PL" sz="2000">
                <a:ea typeface="+mn-lt"/>
                <a:cs typeface="+mn-lt"/>
              </a:rPr>
            </a:br>
            <a:r>
              <a:rPr lang="pl-PL" sz="2000">
                <a:ea typeface="+mn-lt"/>
                <a:cs typeface="+mn-lt"/>
              </a:rPr>
              <a:t> Dla wszystkich zasobów innych niż publiczne najlepiej stosować zasadę „deny by default”. Oznacza to, że użytkownik otrzymuje dostęp tylko wtedy, gdy został on jawnie przyznany, co zmniejsza ryzyko przypadkowego ujawnienia danych. </a:t>
            </a:r>
            <a:endParaRPr lang="pl-PL"/>
          </a:p>
          <a:p>
            <a:pPr>
              <a:lnSpc>
                <a:spcPct val="80000"/>
              </a:lnSpc>
            </a:pPr>
            <a:r>
              <a:rPr lang="pl-PL" sz="2000">
                <a:ea typeface="+mn-lt"/>
                <a:cs typeface="+mn-lt"/>
              </a:rPr>
              <a:t>Jednokrotna implementacja mechanizmów uprawnień</a:t>
            </a:r>
            <a:br>
              <a:rPr lang="pl-PL" sz="2000">
                <a:ea typeface="+mn-lt"/>
                <a:cs typeface="+mn-lt"/>
              </a:rPr>
            </a:br>
            <a:r>
              <a:rPr lang="pl-PL" sz="2000">
                <a:ea typeface="+mn-lt"/>
                <a:cs typeface="+mn-lt"/>
              </a:rPr>
              <a:t> Kontrola dostępu powinna być zdefiniowana raz i wielokrotnie używana w całej aplikacji, zamiast powtarzania jej w wielu miejscach. Taki model ogranicza niespójności i zmniejsza szansę, że jakaś ścieżka zostanie pominięta albo zaimplementowana błędnie. </a:t>
            </a:r>
            <a:endParaRPr lang="pl-PL"/>
          </a:p>
          <a:p>
            <a:pPr>
              <a:lnSpc>
                <a:spcPct val="80000"/>
              </a:lnSpc>
            </a:pPr>
            <a:r>
              <a:rPr lang="pl-PL" sz="2000">
                <a:ea typeface="+mn-lt"/>
                <a:cs typeface="+mn-lt"/>
              </a:rPr>
              <a:t>Ograniczanie użycia CORS</a:t>
            </a:r>
            <a:br>
              <a:rPr lang="pl-PL" sz="2000">
                <a:ea typeface="+mn-lt"/>
                <a:cs typeface="+mn-lt"/>
              </a:rPr>
            </a:br>
            <a:r>
              <a:rPr lang="pl-PL" sz="2000">
                <a:ea typeface="+mn-lt"/>
                <a:cs typeface="+mn-lt"/>
              </a:rPr>
              <a:t> Warto minimalizować Cross-Origin Resource Sharing, bo zbyt szeroka konfiguracja może niepotrzebnie rozszerzyć powierzchnię ataku. Najbezpieczniej dopuszczać tylko te źródła, które rzeczywiście są wymagane przez aplikację.</a:t>
            </a:r>
            <a:endParaRPr lang="pl-PL"/>
          </a:p>
          <a:p>
            <a:r>
              <a:rPr lang="pl-PL" sz="2000">
                <a:ea typeface="+mn-lt"/>
                <a:cs typeface="+mn-lt"/>
              </a:rPr>
              <a:t>Unieważnianie sesji i krótkie życie tokenów</a:t>
            </a:r>
            <a:br>
              <a:rPr lang="pl-PL" sz="2000">
                <a:ea typeface="+mn-lt"/>
                <a:cs typeface="+mn-lt"/>
              </a:rPr>
            </a:br>
            <a:r>
              <a:rPr lang="pl-PL" sz="2000">
                <a:ea typeface="+mn-lt"/>
                <a:cs typeface="+mn-lt"/>
              </a:rPr>
              <a:t> Stateful session identifiers powinny być unieważniane po stronie serwera po wylogowaniu, a stateless JWT powinny mieć krótki czas życia. Przy dłużej ważnych JWT warto stosować refresh tokeny oraz standardy OAuth do odwoływania dostępu, żeby skrócić okno, w którym przejęty token może zostać wykorzystany.</a:t>
            </a:r>
            <a:endParaRPr lang="pl-PL" sz="2000"/>
          </a:p>
        </p:txBody>
      </p:sp>
    </p:spTree>
    <p:extLst>
      <p:ext uri="{BB962C8B-B14F-4D97-AF65-F5344CB8AC3E}">
        <p14:creationId xmlns:p14="http://schemas.microsoft.com/office/powerpoint/2010/main" val="1337055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E9EF2-A47F-3EB8-4337-417C7A3BFC11}"/>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7CAF0612-E929-755D-6238-6F20ED8015F5}"/>
              </a:ext>
            </a:extLst>
          </p:cNvPr>
          <p:cNvSpPr>
            <a:spLocks noGrp="1"/>
          </p:cNvSpPr>
          <p:nvPr>
            <p:ph type="ctrTitle"/>
          </p:nvPr>
        </p:nvSpPr>
        <p:spPr>
          <a:xfrm>
            <a:off x="1542143" y="2016247"/>
            <a:ext cx="9144000" cy="1049216"/>
          </a:xfrm>
        </p:spPr>
        <p:txBody>
          <a:bodyPr>
            <a:normAutofit/>
          </a:bodyPr>
          <a:lstStyle/>
          <a:p>
            <a:r>
              <a:rPr lang="pl-PL" sz="5400">
                <a:latin typeface="Aptos"/>
              </a:rPr>
              <a:t>Security Misconfiguration</a:t>
            </a:r>
          </a:p>
        </p:txBody>
      </p:sp>
      <p:sp>
        <p:nvSpPr>
          <p:cNvPr id="3" name="Symbol zastępczy zawartości 2">
            <a:extLst>
              <a:ext uri="{FF2B5EF4-FFF2-40B4-BE49-F238E27FC236}">
                <a16:creationId xmlns:a16="http://schemas.microsoft.com/office/drawing/2014/main" id="{42F11432-81BE-271E-0F21-757AF88ED432}"/>
              </a:ext>
            </a:extLst>
          </p:cNvPr>
          <p:cNvSpPr>
            <a:spLocks noGrp="1"/>
          </p:cNvSpPr>
          <p:nvPr>
            <p:ph type="subTitle" idx="1"/>
          </p:nvPr>
        </p:nvSpPr>
        <p:spPr>
          <a:xfrm>
            <a:off x="1542143" y="3157538"/>
            <a:ext cx="9144000" cy="1655762"/>
          </a:xfrm>
        </p:spPr>
        <p:txBody>
          <a:bodyPr vert="horz" lIns="91440" tIns="45720" rIns="91440" bIns="45720" rtlCol="0" anchor="t">
            <a:normAutofit/>
          </a:bodyPr>
          <a:lstStyle/>
          <a:p>
            <a:pPr marL="0" indent="0">
              <a:buNone/>
            </a:pPr>
            <a:r>
              <a:rPr lang="pl-PL">
                <a:ea typeface="+mn-lt"/>
                <a:cs typeface="+mn-lt"/>
              </a:rPr>
              <a:t>Chodzi o błędną konfigurację systemu, aplikacji albo usług chmurowych z punktu widzenia bezpieczeństwa. Zagrożenie polega na tym, że włączone są zbędne funkcje, pozostają domyślne hasła, ujawniają się zbyt szczegółowe błędy albo działają niebezpieczne ustawienia w komponentach.</a:t>
            </a:r>
          </a:p>
        </p:txBody>
      </p:sp>
    </p:spTree>
    <p:extLst>
      <p:ext uri="{BB962C8B-B14F-4D97-AF65-F5344CB8AC3E}">
        <p14:creationId xmlns:p14="http://schemas.microsoft.com/office/powerpoint/2010/main" val="3974057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9D9A5-AA7D-AD28-4D16-FAF9349D998F}"/>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00A94C7C-33F8-C9CC-EF60-A96686A647FC}"/>
              </a:ext>
            </a:extLst>
          </p:cNvPr>
          <p:cNvSpPr>
            <a:spLocks noGrp="1"/>
          </p:cNvSpPr>
          <p:nvPr>
            <p:ph type="title"/>
          </p:nvPr>
        </p:nvSpPr>
        <p:spPr>
          <a:xfrm>
            <a:off x="838200" y="365125"/>
            <a:ext cx="10515600" cy="657638"/>
          </a:xfrm>
        </p:spPr>
        <p:txBody>
          <a:bodyPr/>
          <a:lstStyle/>
          <a:p>
            <a:r>
              <a:rPr lang="pl-PL" sz="2800">
                <a:latin typeface="Aptos"/>
              </a:rPr>
              <a:t>Security Misconfiguration (16 CWEs)</a:t>
            </a:r>
          </a:p>
        </p:txBody>
      </p:sp>
      <p:sp>
        <p:nvSpPr>
          <p:cNvPr id="3" name="Symbol zastępczy zawartości 2">
            <a:extLst>
              <a:ext uri="{FF2B5EF4-FFF2-40B4-BE49-F238E27FC236}">
                <a16:creationId xmlns:a16="http://schemas.microsoft.com/office/drawing/2014/main" id="{F38D239A-192B-0004-B106-759CCE0453F7}"/>
              </a:ext>
            </a:extLst>
          </p:cNvPr>
          <p:cNvSpPr>
            <a:spLocks noGrp="1"/>
          </p:cNvSpPr>
          <p:nvPr>
            <p:ph idx="1"/>
          </p:nvPr>
        </p:nvSpPr>
        <p:spPr>
          <a:xfrm>
            <a:off x="838200" y="1025996"/>
            <a:ext cx="10515600" cy="5150967"/>
          </a:xfrm>
        </p:spPr>
        <p:txBody>
          <a:bodyPr vert="horz" lIns="91440" tIns="45720" rIns="91440" bIns="45720" rtlCol="0" anchor="t">
            <a:normAutofit fontScale="92500" lnSpcReduction="20000"/>
          </a:bodyPr>
          <a:lstStyle/>
          <a:p>
            <a:pPr>
              <a:buFont typeface="Arial"/>
              <a:buChar char="•"/>
            </a:pPr>
            <a:r>
              <a:rPr lang="pl-PL" b="1">
                <a:ea typeface="+mn-lt"/>
                <a:cs typeface="+mn-lt"/>
              </a:rPr>
              <a:t>CWE-489 (Active Debug Code)</a:t>
            </a:r>
            <a:r>
              <a:rPr lang="pl-PL">
                <a:ea typeface="+mn-lt"/>
                <a:cs typeface="+mn-lt"/>
              </a:rPr>
              <a:t> — W kodzie produkcyjnym pozostają mechanizmy debugowania, które mogą ujawniać wrażliwe informacje lub umożliwiać manipulację. </a:t>
            </a:r>
            <a:endParaRPr lang="pl-PL"/>
          </a:p>
          <a:p>
            <a:pPr>
              <a:buFont typeface="Arial"/>
              <a:buChar char="•"/>
            </a:pPr>
            <a:r>
              <a:rPr lang="pl-PL" b="1">
                <a:ea typeface="+mn-lt"/>
                <a:cs typeface="+mn-lt"/>
              </a:rPr>
              <a:t>CWE-526 (Exposure of Sensitive Information Through Environmental Variables)</a:t>
            </a:r>
            <a:r>
              <a:rPr lang="pl-PL">
                <a:ea typeface="+mn-lt"/>
                <a:cs typeface="+mn-lt"/>
              </a:rPr>
              <a:t> — Wrażliwe dane (np. klucze API) są dostępne przez zmienne środowiskowe i mogą zostać ujawnione. </a:t>
            </a:r>
            <a:endParaRPr lang="pl-PL"/>
          </a:p>
          <a:p>
            <a:pPr>
              <a:buFont typeface="Arial"/>
              <a:buChar char="•"/>
            </a:pPr>
            <a:r>
              <a:rPr lang="pl-PL" b="1">
                <a:ea typeface="+mn-lt"/>
                <a:cs typeface="+mn-lt"/>
              </a:rPr>
              <a:t>CWE-547 (Use of Hard-coded Security-relevant Constants)</a:t>
            </a:r>
            <a:r>
              <a:rPr lang="pl-PL">
                <a:ea typeface="+mn-lt"/>
                <a:cs typeface="+mn-lt"/>
              </a:rPr>
              <a:t> — W kodzie na stałe zapisane są wartości istotne dla bezpieczeństwa (np. klucze), które można łatwo odczytać. </a:t>
            </a:r>
            <a:endParaRPr lang="pl-PL"/>
          </a:p>
          <a:p>
            <a:pPr>
              <a:buFont typeface="Arial"/>
              <a:buChar char="•"/>
            </a:pPr>
            <a:r>
              <a:rPr lang="pl-PL" b="1">
                <a:ea typeface="+mn-lt"/>
                <a:cs typeface="+mn-lt"/>
              </a:rPr>
              <a:t>CWE-614 (Sensitive Cookie in HTTPS Session Without 'Secure' Attribute)</a:t>
            </a:r>
            <a:r>
              <a:rPr lang="pl-PL">
                <a:ea typeface="+mn-lt"/>
                <a:cs typeface="+mn-lt"/>
              </a:rPr>
              <a:t> — Cookie może być przesyłane także przez niezabezpieczone połączenie, mimo że powinno być tylko przez HTTPS. </a:t>
            </a:r>
            <a:endParaRPr lang="pl-PL"/>
          </a:p>
          <a:p>
            <a:pPr>
              <a:buFont typeface="Arial"/>
              <a:buChar char="•"/>
            </a:pPr>
            <a:r>
              <a:rPr lang="pl-PL" b="1">
                <a:ea typeface="+mn-lt"/>
                <a:cs typeface="+mn-lt"/>
              </a:rPr>
              <a:t>CWE-1004 (Sensitive Cookie Without 'HttpOnly' Flag)</a:t>
            </a:r>
            <a:r>
              <a:rPr lang="pl-PL">
                <a:ea typeface="+mn-lt"/>
                <a:cs typeface="+mn-lt"/>
              </a:rPr>
              <a:t> — Cookie jest dostępne z poziomu JavaScript, co umożliwia jego kradzież np. przez XSS.</a:t>
            </a:r>
            <a:endParaRPr lang="pl-PL"/>
          </a:p>
          <a:p>
            <a:pPr marL="0" indent="0">
              <a:buNone/>
            </a:pPr>
            <a:endParaRPr lang="pl-PL"/>
          </a:p>
        </p:txBody>
      </p:sp>
    </p:spTree>
    <p:extLst>
      <p:ext uri="{BB962C8B-B14F-4D97-AF65-F5344CB8AC3E}">
        <p14:creationId xmlns:p14="http://schemas.microsoft.com/office/powerpoint/2010/main" val="1659043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9A4F322-A267-0C09-6AD6-9C2A722B2E71}"/>
              </a:ext>
            </a:extLst>
          </p:cNvPr>
          <p:cNvSpPr>
            <a:spLocks noGrp="1"/>
          </p:cNvSpPr>
          <p:nvPr>
            <p:ph type="title"/>
          </p:nvPr>
        </p:nvSpPr>
        <p:spPr>
          <a:xfrm>
            <a:off x="838200" y="365125"/>
            <a:ext cx="10515600" cy="657638"/>
          </a:xfrm>
        </p:spPr>
        <p:txBody>
          <a:bodyPr/>
          <a:lstStyle/>
          <a:p>
            <a:r>
              <a:rPr lang="pl-PL" sz="2800">
                <a:latin typeface="Aptos"/>
              </a:rPr>
              <a:t>Security Misconfiguration</a:t>
            </a:r>
          </a:p>
        </p:txBody>
      </p:sp>
      <p:sp>
        <p:nvSpPr>
          <p:cNvPr id="3" name="Symbol zastępczy zawartości 2">
            <a:extLst>
              <a:ext uri="{FF2B5EF4-FFF2-40B4-BE49-F238E27FC236}">
                <a16:creationId xmlns:a16="http://schemas.microsoft.com/office/drawing/2014/main" id="{11537F61-BBCD-7AEF-B04E-C4BC04A6E707}"/>
              </a:ext>
            </a:extLst>
          </p:cNvPr>
          <p:cNvSpPr>
            <a:spLocks noGrp="1"/>
          </p:cNvSpPr>
          <p:nvPr>
            <p:ph idx="1"/>
          </p:nvPr>
        </p:nvSpPr>
        <p:spPr>
          <a:xfrm>
            <a:off x="838200" y="1025996"/>
            <a:ext cx="10515600" cy="5834139"/>
          </a:xfrm>
        </p:spPr>
        <p:txBody>
          <a:bodyPr vert="horz" lIns="91440" tIns="45720" rIns="91440" bIns="45720" rtlCol="0" anchor="t">
            <a:noAutofit/>
          </a:bodyPr>
          <a:lstStyle/>
          <a:p>
            <a:pPr marL="457200" indent="-457200">
              <a:lnSpc>
                <a:spcPct val="70000"/>
              </a:lnSpc>
            </a:pPr>
            <a:r>
              <a:rPr lang="pl-PL" sz="2200">
                <a:ea typeface="+mn-lt"/>
                <a:cs typeface="+mn-lt"/>
              </a:rPr>
              <a:t>Minimalna platforma bez zbędnych komponentów</a:t>
            </a:r>
            <a:br>
              <a:rPr lang="pl-PL" sz="2200">
                <a:ea typeface="+mn-lt"/>
                <a:cs typeface="+mn-lt"/>
              </a:rPr>
            </a:br>
            <a:r>
              <a:rPr lang="pl-PL" sz="2200">
                <a:ea typeface="+mn-lt"/>
                <a:cs typeface="+mn-lt"/>
              </a:rPr>
              <a:t>Należy instalować tylko te funkcje, frameworki i elementy dokumentacji, które są rzeczywiście potrzebne. Im mniej zbędnych części w systemie, tym mniejsza powierzchnia ataku i mniej miejsc, które trzeba aktualizować i zabezpieczać.</a:t>
            </a:r>
          </a:p>
          <a:p>
            <a:pPr marL="457200" indent="-457200">
              <a:lnSpc>
                <a:spcPct val="70000"/>
              </a:lnSpc>
            </a:pPr>
            <a:r>
              <a:rPr lang="pl-PL" sz="2200">
                <a:ea typeface="+mn-lt"/>
                <a:cs typeface="+mn-lt"/>
              </a:rPr>
              <a:t>Regularna aktualizacja konfiguracji i poprawek</a:t>
            </a:r>
            <a:br>
              <a:rPr lang="pl-PL" sz="2200">
                <a:ea typeface="+mn-lt"/>
                <a:cs typeface="+mn-lt"/>
              </a:rPr>
            </a:br>
            <a:r>
              <a:rPr lang="pl-PL" sz="2200">
                <a:ea typeface="+mn-lt"/>
                <a:cs typeface="+mn-lt"/>
              </a:rPr>
              <a:t>Częścią zarządzania poprawkami powinien być przegląd i aktualizacja ustawień związanych z notami bezpieczeństwa, łatami i zmianami konfiguracyjnymi. Trzeba też kontrolować uprawnienia do zasobów chmurowych, takich jak bucket S3, bo błędna polityka dostępu często prowadzi do wycieków danych.</a:t>
            </a:r>
          </a:p>
          <a:p>
            <a:pPr marL="457200" indent="-457200">
              <a:lnSpc>
                <a:spcPct val="70000"/>
              </a:lnSpc>
            </a:pPr>
            <a:r>
              <a:rPr lang="pl-PL" sz="2200">
                <a:ea typeface="+mn-lt"/>
                <a:cs typeface="+mn-lt"/>
              </a:rPr>
              <a:t>Segmentacja architektury aplikacji</a:t>
            </a:r>
            <a:br>
              <a:rPr lang="pl-PL" sz="2200">
                <a:ea typeface="+mn-lt"/>
                <a:cs typeface="+mn-lt"/>
              </a:rPr>
            </a:br>
            <a:r>
              <a:rPr lang="pl-PL" sz="2200">
                <a:ea typeface="+mn-lt"/>
                <a:cs typeface="+mn-lt"/>
              </a:rPr>
              <a:t>Aplikację warto projektować tak, aby jej komponenty były od siebie logicznie i sieciowo odseparowane, na przykład przez segmentację, konteneryzację albo grupy bezpieczeństwa w chmurze. Taka izolacja utrudnia ruch boczny atakującego i ogranicza skutki kompromitacji jednego elementu.</a:t>
            </a:r>
          </a:p>
          <a:p>
            <a:pPr marL="457200" indent="-457200">
              <a:lnSpc>
                <a:spcPct val="70000"/>
              </a:lnSpc>
            </a:pPr>
            <a:r>
              <a:rPr lang="pl-PL" sz="2200">
                <a:ea typeface="+mn-lt"/>
                <a:cs typeface="+mn-lt"/>
              </a:rPr>
              <a:t>Ręczna weryfikacja, jeśli brak automatyzacji</a:t>
            </a:r>
            <a:br>
              <a:rPr lang="pl-PL" sz="2200">
                <a:ea typeface="+mn-lt"/>
                <a:cs typeface="+mn-lt"/>
              </a:rPr>
            </a:br>
            <a:r>
              <a:rPr lang="pl-PL" sz="2200">
                <a:ea typeface="+mn-lt"/>
                <a:cs typeface="+mn-lt"/>
              </a:rPr>
              <a:t>Jeżeli danej kontroli nie da się zautomatyzować, trzeba ją sprawdzać ręcznie przynajmniej raz w roku. To ważne, bo konfiguracje i zależności zmieniają się z czasem, a stare założenia bezpieczeństwa mogą przestać być aktualne.</a:t>
            </a:r>
          </a:p>
          <a:p>
            <a:pPr marL="457200" indent="-457200">
              <a:lnSpc>
                <a:spcPct val="70000"/>
              </a:lnSpc>
            </a:pPr>
            <a:endParaRPr lang="pl-PL" sz="2200"/>
          </a:p>
        </p:txBody>
      </p:sp>
    </p:spTree>
    <p:extLst>
      <p:ext uri="{BB962C8B-B14F-4D97-AF65-F5344CB8AC3E}">
        <p14:creationId xmlns:p14="http://schemas.microsoft.com/office/powerpoint/2010/main" val="4237638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7F08EAA-A90E-8804-73A7-4479D22940C6}"/>
              </a:ext>
            </a:extLst>
          </p:cNvPr>
          <p:cNvSpPr>
            <a:spLocks noGrp="1"/>
          </p:cNvSpPr>
          <p:nvPr>
            <p:ph type="ctrTitle"/>
          </p:nvPr>
        </p:nvSpPr>
        <p:spPr>
          <a:xfrm>
            <a:off x="1197429" y="686934"/>
            <a:ext cx="9797142" cy="2387600"/>
          </a:xfrm>
        </p:spPr>
        <p:txBody>
          <a:bodyPr>
            <a:normAutofit/>
          </a:bodyPr>
          <a:lstStyle/>
          <a:p>
            <a:r>
              <a:rPr lang="pl-PL" sz="5400">
                <a:latin typeface="Aptos"/>
              </a:rPr>
              <a:t>Software Supply Chain Failures</a:t>
            </a:r>
          </a:p>
        </p:txBody>
      </p:sp>
      <p:sp>
        <p:nvSpPr>
          <p:cNvPr id="3" name="Symbol zastępczy zawartości 2">
            <a:extLst>
              <a:ext uri="{FF2B5EF4-FFF2-40B4-BE49-F238E27FC236}">
                <a16:creationId xmlns:a16="http://schemas.microsoft.com/office/drawing/2014/main" id="{AE0B3ACB-7FE5-78B0-282B-63CCFF138F56}"/>
              </a:ext>
            </a:extLst>
          </p:cNvPr>
          <p:cNvSpPr>
            <a:spLocks noGrp="1"/>
          </p:cNvSpPr>
          <p:nvPr>
            <p:ph type="subTitle" idx="1"/>
          </p:nvPr>
        </p:nvSpPr>
        <p:spPr>
          <a:xfrm>
            <a:off x="1524000" y="3139395"/>
            <a:ext cx="9144000" cy="1655762"/>
          </a:xfrm>
        </p:spPr>
        <p:txBody>
          <a:bodyPr vert="horz" lIns="91440" tIns="45720" rIns="91440" bIns="45720" rtlCol="0" anchor="t">
            <a:normAutofit/>
          </a:bodyPr>
          <a:lstStyle/>
          <a:p>
            <a:pPr marL="0" indent="0">
              <a:buNone/>
            </a:pPr>
            <a:r>
              <a:rPr lang="pl-PL">
                <a:ea typeface="+mn-lt"/>
                <a:cs typeface="+mn-lt"/>
              </a:rPr>
              <a:t>To awarie lub kompromitacje w łańcuchu dostarczania oprogramowania: podczas budowania, dystrybucji lub aktualizacji. Ryzyko pojawia się, gdy aplikacja korzysta z podatnych, nieutrzymywanych albo zmodyfikowanych bibliotek, narzędzi i zależności, które wchodzą do systemu z zewnątrz.</a:t>
            </a:r>
          </a:p>
          <a:p>
            <a:pPr marL="0" indent="0">
              <a:buNone/>
            </a:pPr>
            <a:endParaRPr lang="pl-PL"/>
          </a:p>
        </p:txBody>
      </p:sp>
    </p:spTree>
    <p:extLst>
      <p:ext uri="{BB962C8B-B14F-4D97-AF65-F5344CB8AC3E}">
        <p14:creationId xmlns:p14="http://schemas.microsoft.com/office/powerpoint/2010/main" val="563669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9DC6E-1641-EC30-920B-49CEED00717B}"/>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2361D086-4DBD-BD84-7B5E-AAFB67ABB87A}"/>
              </a:ext>
            </a:extLst>
          </p:cNvPr>
          <p:cNvSpPr>
            <a:spLocks noGrp="1"/>
          </p:cNvSpPr>
          <p:nvPr>
            <p:ph type="title"/>
          </p:nvPr>
        </p:nvSpPr>
        <p:spPr>
          <a:xfrm>
            <a:off x="838200" y="365125"/>
            <a:ext cx="10515600" cy="582378"/>
          </a:xfrm>
        </p:spPr>
        <p:txBody>
          <a:bodyPr/>
          <a:lstStyle/>
          <a:p>
            <a:r>
              <a:rPr lang="pl-PL" sz="2800">
                <a:latin typeface="Aptos"/>
              </a:rPr>
              <a:t>Software Supply Chain Failures (6 CWEs)</a:t>
            </a:r>
          </a:p>
        </p:txBody>
      </p:sp>
      <p:sp>
        <p:nvSpPr>
          <p:cNvPr id="3" name="Symbol zastępczy zawartości 2">
            <a:extLst>
              <a:ext uri="{FF2B5EF4-FFF2-40B4-BE49-F238E27FC236}">
                <a16:creationId xmlns:a16="http://schemas.microsoft.com/office/drawing/2014/main" id="{5E81A02E-791A-B6D3-CDC2-394724347541}"/>
              </a:ext>
            </a:extLst>
          </p:cNvPr>
          <p:cNvSpPr>
            <a:spLocks noGrp="1"/>
          </p:cNvSpPr>
          <p:nvPr>
            <p:ph idx="1"/>
          </p:nvPr>
        </p:nvSpPr>
        <p:spPr>
          <a:xfrm>
            <a:off x="838200" y="1016588"/>
            <a:ext cx="10515600" cy="5160375"/>
          </a:xfrm>
        </p:spPr>
        <p:txBody>
          <a:bodyPr vert="horz" lIns="91440" tIns="45720" rIns="91440" bIns="45720" rtlCol="0" anchor="t">
            <a:normAutofit/>
          </a:bodyPr>
          <a:lstStyle/>
          <a:p>
            <a:pPr>
              <a:buFont typeface="Arial"/>
              <a:buChar char="•"/>
            </a:pPr>
            <a:r>
              <a:rPr lang="pl-PL" b="1">
                <a:ea typeface="+mn-lt"/>
                <a:cs typeface="+mn-lt"/>
              </a:rPr>
              <a:t>CWE-1104 (Use of Unmaintained Third Party Components)</a:t>
            </a:r>
            <a:r>
              <a:rPr lang="pl-PL">
                <a:ea typeface="+mn-lt"/>
                <a:cs typeface="+mn-lt"/>
              </a:rPr>
              <a:t> — Aplikacja korzysta z bibliotek, które nie są już utrzymywane i mogą zawierać znane podatności. </a:t>
            </a:r>
            <a:endParaRPr lang="pl-PL"/>
          </a:p>
          <a:p>
            <a:pPr>
              <a:buFont typeface="Arial"/>
              <a:buChar char="•"/>
            </a:pPr>
            <a:r>
              <a:rPr lang="pl-PL" b="1">
                <a:ea typeface="+mn-lt"/>
                <a:cs typeface="+mn-lt"/>
              </a:rPr>
              <a:t>CWE-1329 (Reliance on Component That is Not Updateable)</a:t>
            </a:r>
            <a:r>
              <a:rPr lang="pl-PL">
                <a:ea typeface="+mn-lt"/>
                <a:cs typeface="+mn-lt"/>
              </a:rPr>
              <a:t> — System zależy od komponentu, którego nie da się zaktualizować, co utrudnia usunięcie podatności. </a:t>
            </a:r>
            <a:endParaRPr lang="pl-PL"/>
          </a:p>
          <a:p>
            <a:pPr>
              <a:buFont typeface="Arial"/>
              <a:buChar char="•"/>
            </a:pPr>
            <a:r>
              <a:rPr lang="pl-PL" b="1">
                <a:ea typeface="+mn-lt"/>
                <a:cs typeface="+mn-lt"/>
              </a:rPr>
              <a:t>CWE-1357 (Reliance on Insufficiently Trustworthy Component)</a:t>
            </a:r>
            <a:r>
              <a:rPr lang="pl-PL">
                <a:ea typeface="+mn-lt"/>
                <a:cs typeface="+mn-lt"/>
              </a:rPr>
              <a:t> — Wykorzystywany komponent pochodzi z niepewnego źródła lub nie jest godny zaufania. </a:t>
            </a:r>
            <a:endParaRPr lang="pl-PL"/>
          </a:p>
          <a:p>
            <a:pPr>
              <a:buFont typeface="Arial"/>
              <a:buChar char="•"/>
            </a:pPr>
            <a:r>
              <a:rPr lang="pl-PL" b="1">
                <a:ea typeface="+mn-lt"/>
                <a:cs typeface="+mn-lt"/>
              </a:rPr>
              <a:t>CWE-1395 (Dependency on Vulnerable Third-Party Component)</a:t>
            </a:r>
            <a:r>
              <a:rPr lang="pl-PL">
                <a:ea typeface="+mn-lt"/>
                <a:cs typeface="+mn-lt"/>
              </a:rPr>
              <a:t> — Aplikacja używa komponentu z już znaną podatnością. </a:t>
            </a:r>
            <a:endParaRPr lang="pl-PL"/>
          </a:p>
          <a:p>
            <a:pPr marL="0" indent="0">
              <a:buNone/>
            </a:pPr>
            <a:endParaRPr lang="pl-PL"/>
          </a:p>
        </p:txBody>
      </p:sp>
    </p:spTree>
    <p:extLst>
      <p:ext uri="{BB962C8B-B14F-4D97-AF65-F5344CB8AC3E}">
        <p14:creationId xmlns:p14="http://schemas.microsoft.com/office/powerpoint/2010/main" val="33853937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F7064-9110-6B3F-99CF-150900635BA6}"/>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EBF88B14-7166-89A3-A426-5B91B8DEE3FD}"/>
              </a:ext>
            </a:extLst>
          </p:cNvPr>
          <p:cNvSpPr>
            <a:spLocks noGrp="1"/>
          </p:cNvSpPr>
          <p:nvPr>
            <p:ph type="title"/>
          </p:nvPr>
        </p:nvSpPr>
        <p:spPr>
          <a:xfrm>
            <a:off x="838200" y="365125"/>
            <a:ext cx="10515600" cy="582378"/>
          </a:xfrm>
        </p:spPr>
        <p:txBody>
          <a:bodyPr/>
          <a:lstStyle/>
          <a:p>
            <a:r>
              <a:rPr lang="pl-PL" sz="2800">
                <a:latin typeface="Aptos"/>
              </a:rPr>
              <a:t>Software Supply Chain Failures</a:t>
            </a:r>
          </a:p>
        </p:txBody>
      </p:sp>
      <p:sp>
        <p:nvSpPr>
          <p:cNvPr id="3" name="Symbol zastępczy zawartości 2">
            <a:extLst>
              <a:ext uri="{FF2B5EF4-FFF2-40B4-BE49-F238E27FC236}">
                <a16:creationId xmlns:a16="http://schemas.microsoft.com/office/drawing/2014/main" id="{BBFB87E7-6632-C19D-B8E3-C259944F2B9F}"/>
              </a:ext>
            </a:extLst>
          </p:cNvPr>
          <p:cNvSpPr>
            <a:spLocks noGrp="1"/>
          </p:cNvSpPr>
          <p:nvPr>
            <p:ph idx="1"/>
          </p:nvPr>
        </p:nvSpPr>
        <p:spPr>
          <a:xfrm>
            <a:off x="838200" y="1016588"/>
            <a:ext cx="10515600" cy="5160375"/>
          </a:xfrm>
        </p:spPr>
        <p:txBody>
          <a:bodyPr vert="horz" lIns="91440" tIns="45720" rIns="91440" bIns="45720" rtlCol="0" anchor="t">
            <a:normAutofit fontScale="62500" lnSpcReduction="20000"/>
          </a:bodyPr>
          <a:lstStyle/>
          <a:p>
            <a:pPr marL="457200" indent="-457200"/>
            <a:r>
              <a:rPr lang="pl-PL">
                <a:ea typeface="+mn-lt"/>
                <a:cs typeface="+mn-lt"/>
              </a:rPr>
              <a:t>Ograniczanie powierzchni ataku przez usuwanie zbędnych elementów</a:t>
            </a:r>
            <a:br>
              <a:rPr lang="pl-PL">
                <a:ea typeface="+mn-lt"/>
                <a:cs typeface="+mn-lt"/>
              </a:rPr>
            </a:br>
            <a:r>
              <a:rPr lang="pl-PL">
                <a:ea typeface="+mn-lt"/>
                <a:cs typeface="+mn-lt"/>
              </a:rPr>
              <a:t>Trzeba usuwać nieużywane biblioteki, funkcje, pliki, dokumentację i komponenty, które nie są potrzebne do działania systemu. Im mniej zależności i zbędnych zasobów, tym mniej miejsc, które mogą zostać wykorzystane przez atakującego.</a:t>
            </a:r>
            <a:endParaRPr lang="pl-PL"/>
          </a:p>
          <a:p>
            <a:pPr marL="457200" indent="-457200"/>
            <a:r>
              <a:rPr lang="pl-PL">
                <a:ea typeface="+mn-lt"/>
                <a:cs typeface="+mn-lt"/>
              </a:rPr>
              <a:t>Ciągła inwentaryzacja wersji komponentów i zależności</a:t>
            </a:r>
            <a:br>
              <a:rPr lang="pl-PL">
                <a:ea typeface="+mn-lt"/>
                <a:cs typeface="+mn-lt"/>
              </a:rPr>
            </a:br>
            <a:r>
              <a:rPr lang="pl-PL">
                <a:ea typeface="+mn-lt"/>
                <a:cs typeface="+mn-lt"/>
              </a:rPr>
              <a:t>Dobrą praktyką jest stałe zbieranie informacji o wersjach komponentów po stronie klienta i serwera, razem z ich zależnościami. Do tego można używać narzędzi typu OWASP Dependency Track, OWASP Dependency Check czy retire.js, aby szybciej wykrywać przestarzałe lub podatne elementy.</a:t>
            </a:r>
            <a:endParaRPr lang="pl-PL"/>
          </a:p>
          <a:p>
            <a:pPr marL="457200" indent="-457200"/>
            <a:r>
              <a:rPr lang="pl-PL">
                <a:ea typeface="+mn-lt"/>
                <a:cs typeface="+mn-lt"/>
              </a:rPr>
              <a:t>Pobieranie komponentów wyłącznie z zaufanych źródeł</a:t>
            </a:r>
            <a:br>
              <a:rPr lang="pl-PL">
                <a:ea typeface="+mn-lt"/>
                <a:cs typeface="+mn-lt"/>
              </a:rPr>
            </a:br>
            <a:r>
              <a:rPr lang="pl-PL">
                <a:ea typeface="+mn-lt"/>
                <a:cs typeface="+mn-lt"/>
              </a:rPr>
              <a:t>Komponenty powinny pochodzić tylko z oficjalnych, zaufanych źródeł i być pobierane przez bezpieczne połączenia. Podpisane paczki dodatkowo zmniejszają ryzyko włączenia zmodyfikowanego, złośliwego pakietu do aplikacji.</a:t>
            </a:r>
            <a:endParaRPr lang="pl-PL"/>
          </a:p>
          <a:p>
            <a:pPr marL="457200" indent="-457200"/>
            <a:r>
              <a:rPr lang="pl-PL">
                <a:ea typeface="+mn-lt"/>
                <a:cs typeface="+mn-lt"/>
              </a:rPr>
              <a:t>Świadomy dobór wersji zależności</a:t>
            </a:r>
            <a:br>
              <a:rPr lang="pl-PL">
                <a:ea typeface="+mn-lt"/>
                <a:cs typeface="+mn-lt"/>
              </a:rPr>
            </a:br>
            <a:r>
              <a:rPr lang="pl-PL">
                <a:ea typeface="+mn-lt"/>
                <a:cs typeface="+mn-lt"/>
              </a:rPr>
              <a:t>Wersje bibliotek trzeba wybierać celowo, zamiast aktualizować je bez kontroli lub z przypadku. Aktualizacja powinna następować wtedy, gdy istnieje konkretny powód, na przykład poprawka bezpieczeństwa, wymóg funkcjonalny albo usunięcie ryzyka związanego ze starą wersją.</a:t>
            </a:r>
            <a:endParaRPr lang="pl-PL"/>
          </a:p>
          <a:p>
            <a:pPr marL="457200" indent="-457200"/>
            <a:r>
              <a:rPr lang="pl-PL">
                <a:ea typeface="+mn-lt"/>
                <a:cs typeface="+mn-lt"/>
              </a:rPr>
              <a:t>Regularna aktualizacja narzędzi developerskich</a:t>
            </a:r>
            <a:br>
              <a:rPr lang="pl-PL">
                <a:ea typeface="+mn-lt"/>
                <a:cs typeface="+mn-lt"/>
              </a:rPr>
            </a:br>
            <a:r>
              <a:rPr lang="pl-PL">
                <a:ea typeface="+mn-lt"/>
                <a:cs typeface="+mn-lt"/>
              </a:rPr>
              <a:t>CI/CD, IDE i inne narzędzia deweloperskie powinny być aktualizowane na bieżąco. Przestarzałe narzędzia mogą same stać się wektorem ataku albo wprowadzać nieaktualne, niebezpieczne konfiguracje do procesu wytwarzania oprogramowania.</a:t>
            </a:r>
            <a:endParaRPr lang="pl-PL"/>
          </a:p>
        </p:txBody>
      </p:sp>
    </p:spTree>
    <p:extLst>
      <p:ext uri="{BB962C8B-B14F-4D97-AF65-F5344CB8AC3E}">
        <p14:creationId xmlns:p14="http://schemas.microsoft.com/office/powerpoint/2010/main" val="4162784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26AD84D-E8A9-180F-2A84-78C947525BA7}"/>
              </a:ext>
            </a:extLst>
          </p:cNvPr>
          <p:cNvSpPr>
            <a:spLocks noGrp="1"/>
          </p:cNvSpPr>
          <p:nvPr>
            <p:ph type="ctrTitle"/>
          </p:nvPr>
        </p:nvSpPr>
        <p:spPr>
          <a:xfrm>
            <a:off x="1524000" y="369434"/>
            <a:ext cx="9144000" cy="2387600"/>
          </a:xfrm>
        </p:spPr>
        <p:txBody>
          <a:bodyPr>
            <a:normAutofit/>
          </a:bodyPr>
          <a:lstStyle/>
          <a:p>
            <a:r>
              <a:rPr lang="pl-PL" sz="5400">
                <a:latin typeface="Aptos"/>
              </a:rPr>
              <a:t>Cryptographic Failures</a:t>
            </a:r>
          </a:p>
        </p:txBody>
      </p:sp>
      <p:sp>
        <p:nvSpPr>
          <p:cNvPr id="3" name="Symbol zastępczy zawartości 2">
            <a:extLst>
              <a:ext uri="{FF2B5EF4-FFF2-40B4-BE49-F238E27FC236}">
                <a16:creationId xmlns:a16="http://schemas.microsoft.com/office/drawing/2014/main" id="{730F31F5-5250-728F-2479-0CF16734E48B}"/>
              </a:ext>
            </a:extLst>
          </p:cNvPr>
          <p:cNvSpPr>
            <a:spLocks noGrp="1"/>
          </p:cNvSpPr>
          <p:nvPr>
            <p:ph type="subTitle" idx="1"/>
          </p:nvPr>
        </p:nvSpPr>
        <p:spPr>
          <a:xfrm>
            <a:off x="1524000" y="3075895"/>
            <a:ext cx="9144000" cy="1655762"/>
          </a:xfrm>
        </p:spPr>
        <p:txBody>
          <a:bodyPr vert="horz" lIns="91440" tIns="45720" rIns="91440" bIns="45720" rtlCol="0" anchor="t">
            <a:normAutofit/>
          </a:bodyPr>
          <a:lstStyle/>
          <a:p>
            <a:pPr marL="0" indent="0">
              <a:buNone/>
            </a:pPr>
            <a:r>
              <a:rPr lang="pl-PL"/>
              <a:t>T</a:t>
            </a:r>
            <a:r>
              <a:rPr lang="pl-PL">
                <a:ea typeface="+mn-lt"/>
                <a:cs typeface="+mn-lt"/>
              </a:rPr>
              <a:t>a kategoria dotyczy błędów związanych z szyfrowaniem, haszowaniem, generowaniem losowości i ochroną danych w tranzycie oraz w spoczynku. Problem polega nie tylko na braku szyfrowania, ale też na użyciu słabych algorytmów, przewidywalnych wartości losowych czy niebezpiecznych implementacji kryptograficznych.</a:t>
            </a:r>
          </a:p>
          <a:p>
            <a:pPr marL="0" indent="0">
              <a:buNone/>
            </a:pPr>
            <a:endParaRPr lang="pl-PL">
              <a:ea typeface="+mn-lt"/>
              <a:cs typeface="+mn-lt"/>
            </a:endParaRPr>
          </a:p>
        </p:txBody>
      </p:sp>
    </p:spTree>
    <p:extLst>
      <p:ext uri="{BB962C8B-B14F-4D97-AF65-F5344CB8AC3E}">
        <p14:creationId xmlns:p14="http://schemas.microsoft.com/office/powerpoint/2010/main" val="1612251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2C1CA-4388-6214-9454-E4AE3ED585C7}"/>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1BC4803D-6C8A-8943-DF28-C3E64C38136E}"/>
              </a:ext>
            </a:extLst>
          </p:cNvPr>
          <p:cNvSpPr>
            <a:spLocks noGrp="1"/>
          </p:cNvSpPr>
          <p:nvPr>
            <p:ph type="title"/>
          </p:nvPr>
        </p:nvSpPr>
        <p:spPr>
          <a:xfrm>
            <a:off x="838200" y="365125"/>
            <a:ext cx="10515600" cy="563563"/>
          </a:xfrm>
        </p:spPr>
        <p:txBody>
          <a:bodyPr/>
          <a:lstStyle/>
          <a:p>
            <a:r>
              <a:rPr lang="pl-PL" sz="2800">
                <a:latin typeface="Aptos"/>
              </a:rPr>
              <a:t>Cryptographic Failures (32 CWEs)</a:t>
            </a:r>
          </a:p>
        </p:txBody>
      </p:sp>
      <p:sp>
        <p:nvSpPr>
          <p:cNvPr id="3" name="Symbol zastępczy zawartości 2">
            <a:extLst>
              <a:ext uri="{FF2B5EF4-FFF2-40B4-BE49-F238E27FC236}">
                <a16:creationId xmlns:a16="http://schemas.microsoft.com/office/drawing/2014/main" id="{AE36BF84-B24A-21CC-D595-BCB0145EE505}"/>
              </a:ext>
            </a:extLst>
          </p:cNvPr>
          <p:cNvSpPr>
            <a:spLocks noGrp="1"/>
          </p:cNvSpPr>
          <p:nvPr>
            <p:ph idx="1"/>
          </p:nvPr>
        </p:nvSpPr>
        <p:spPr>
          <a:xfrm>
            <a:off x="838200" y="1129477"/>
            <a:ext cx="10515600" cy="5047486"/>
          </a:xfrm>
        </p:spPr>
        <p:txBody>
          <a:bodyPr vert="horz" lIns="91440" tIns="45720" rIns="91440" bIns="45720" rtlCol="0" anchor="t">
            <a:normAutofit lnSpcReduction="10000"/>
          </a:bodyPr>
          <a:lstStyle/>
          <a:p>
            <a:pPr>
              <a:buFont typeface="Arial"/>
              <a:buChar char="•"/>
            </a:pPr>
            <a:r>
              <a:rPr lang="pl-PL" b="1">
                <a:ea typeface="+mn-lt"/>
                <a:cs typeface="+mn-lt"/>
              </a:rPr>
              <a:t>CWE-327 (Broken or Risky Cryptographic Algorithm)</a:t>
            </a:r>
            <a:r>
              <a:rPr lang="pl-PL">
                <a:ea typeface="+mn-lt"/>
                <a:cs typeface="+mn-lt"/>
              </a:rPr>
              <a:t> — Używany jest przestarzały lub słaby algorytm kryptograficzny, który można łatwo złamać. </a:t>
            </a:r>
            <a:endParaRPr lang="pl-PL"/>
          </a:p>
          <a:p>
            <a:pPr>
              <a:buFont typeface="Arial"/>
              <a:buChar char="•"/>
            </a:pPr>
            <a:r>
              <a:rPr lang="pl-PL" b="1">
                <a:ea typeface="+mn-lt"/>
                <a:cs typeface="+mn-lt"/>
              </a:rPr>
              <a:t>CWE-330 (Insufficiently Random Values)</a:t>
            </a:r>
            <a:r>
              <a:rPr lang="pl-PL">
                <a:ea typeface="+mn-lt"/>
                <a:cs typeface="+mn-lt"/>
              </a:rPr>
              <a:t> — Generowane wartości losowe są przewidywalne, co osłabia bezpieczeństwo (np. tokenów). </a:t>
            </a:r>
          </a:p>
          <a:p>
            <a:pPr>
              <a:buFont typeface="Arial"/>
              <a:buChar char="•"/>
            </a:pPr>
            <a:r>
              <a:rPr lang="pl-PL" b="1">
                <a:ea typeface="+mn-lt"/>
                <a:cs typeface="+mn-lt"/>
              </a:rPr>
              <a:t>CWE-331 (Insufficient Entropy)</a:t>
            </a:r>
            <a:r>
              <a:rPr lang="pl-PL">
                <a:ea typeface="+mn-lt"/>
                <a:cs typeface="+mn-lt"/>
              </a:rPr>
              <a:t> — System nie ma wystarczającej losowości przy generowaniu danych kryptograficznych. </a:t>
            </a:r>
          </a:p>
          <a:p>
            <a:pPr>
              <a:buFont typeface="Arial"/>
              <a:buChar char="•"/>
            </a:pPr>
            <a:r>
              <a:rPr lang="pl-PL" b="1">
                <a:ea typeface="+mn-lt"/>
                <a:cs typeface="+mn-lt"/>
              </a:rPr>
              <a:t>CWE-338 (Weak PRNG)</a:t>
            </a:r>
            <a:r>
              <a:rPr lang="pl-PL">
                <a:ea typeface="+mn-lt"/>
                <a:cs typeface="+mn-lt"/>
              </a:rPr>
              <a:t> — Używany generator pseudolosowy nie jest kryptograficznie bezpieczny. </a:t>
            </a:r>
          </a:p>
          <a:p>
            <a:pPr>
              <a:buFont typeface="Arial"/>
              <a:buChar char="•"/>
            </a:pPr>
            <a:r>
              <a:rPr lang="pl-PL" b="1">
                <a:ea typeface="+mn-lt"/>
                <a:cs typeface="+mn-lt"/>
              </a:rPr>
              <a:t>CWE-347 (Improper Verification of Cryptographic Signature)</a:t>
            </a:r>
            <a:r>
              <a:rPr lang="pl-PL">
                <a:ea typeface="+mn-lt"/>
                <a:cs typeface="+mn-lt"/>
              </a:rPr>
              <a:t> — Podpisy cyfrowe nie są poprawnie weryfikowane, co pozwala na ich podrobienie.</a:t>
            </a:r>
          </a:p>
          <a:p>
            <a:pPr marL="0" indent="0">
              <a:buNone/>
            </a:pPr>
            <a:endParaRPr lang="pl-PL">
              <a:ea typeface="+mn-lt"/>
              <a:cs typeface="+mn-lt"/>
            </a:endParaRPr>
          </a:p>
        </p:txBody>
      </p:sp>
    </p:spTree>
    <p:extLst>
      <p:ext uri="{BB962C8B-B14F-4D97-AF65-F5344CB8AC3E}">
        <p14:creationId xmlns:p14="http://schemas.microsoft.com/office/powerpoint/2010/main" val="2874385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D6ED0-15EE-9357-FE4D-97B295480BB8}"/>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E7BFA7D5-0F36-9C44-C039-4C73C684B7DF}"/>
              </a:ext>
            </a:extLst>
          </p:cNvPr>
          <p:cNvSpPr>
            <a:spLocks noGrp="1"/>
          </p:cNvSpPr>
          <p:nvPr>
            <p:ph type="title"/>
          </p:nvPr>
        </p:nvSpPr>
        <p:spPr>
          <a:xfrm>
            <a:off x="838200" y="365125"/>
            <a:ext cx="10515600" cy="563563"/>
          </a:xfrm>
        </p:spPr>
        <p:txBody>
          <a:bodyPr/>
          <a:lstStyle/>
          <a:p>
            <a:r>
              <a:rPr lang="pl-PL" sz="2800">
                <a:latin typeface="Aptos"/>
              </a:rPr>
              <a:t>Cryptographic Failures</a:t>
            </a:r>
          </a:p>
        </p:txBody>
      </p:sp>
      <p:sp>
        <p:nvSpPr>
          <p:cNvPr id="3" name="Symbol zastępczy zawartości 2">
            <a:extLst>
              <a:ext uri="{FF2B5EF4-FFF2-40B4-BE49-F238E27FC236}">
                <a16:creationId xmlns:a16="http://schemas.microsoft.com/office/drawing/2014/main" id="{EF3772E9-465D-003E-D1A7-4BA666496C9F}"/>
              </a:ext>
            </a:extLst>
          </p:cNvPr>
          <p:cNvSpPr>
            <a:spLocks noGrp="1"/>
          </p:cNvSpPr>
          <p:nvPr>
            <p:ph idx="1"/>
          </p:nvPr>
        </p:nvSpPr>
        <p:spPr>
          <a:xfrm>
            <a:off x="838200" y="1129477"/>
            <a:ext cx="10515600" cy="5047486"/>
          </a:xfrm>
        </p:spPr>
        <p:txBody>
          <a:bodyPr vert="horz" lIns="91440" tIns="45720" rIns="91440" bIns="45720" rtlCol="0" anchor="t">
            <a:normAutofit fontScale="70000" lnSpcReduction="20000"/>
          </a:bodyPr>
          <a:lstStyle/>
          <a:p>
            <a:pPr marL="457200" indent="-457200"/>
            <a:r>
              <a:rPr lang="pl-PL">
                <a:ea typeface="+mn-lt"/>
                <a:cs typeface="+mn-lt"/>
              </a:rPr>
              <a:t>Klasyfikacja i oznaczanie danych</a:t>
            </a:r>
            <a:br>
              <a:rPr lang="pl-PL">
                <a:ea typeface="+mn-lt"/>
                <a:cs typeface="+mn-lt"/>
              </a:rPr>
            </a:br>
            <a:r>
              <a:rPr lang="pl-PL">
                <a:ea typeface="+mn-lt"/>
                <a:cs typeface="+mn-lt"/>
              </a:rPr>
              <a:t>Najpierw trzeba ustalić, jakie dane aplikacja przetwarza, przechowuje i przesyła, a potem przypisać im poziomy wrażliwości. To pozwala dobrać odpowiednie zabezpieczenia do danych regulowanych prawnie, biznesowo krytycznych albo szczególnie poufnych.</a:t>
            </a:r>
            <a:endParaRPr lang="pl-PL"/>
          </a:p>
          <a:p>
            <a:pPr marL="457200" indent="-457200"/>
            <a:r>
              <a:rPr lang="pl-PL">
                <a:ea typeface="+mn-lt"/>
                <a:cs typeface="+mn-lt"/>
              </a:rPr>
              <a:t>Zaufane implementacje kryptografii</a:t>
            </a:r>
            <a:br>
              <a:rPr lang="pl-PL">
                <a:ea typeface="+mn-lt"/>
                <a:cs typeface="+mn-lt"/>
              </a:rPr>
            </a:br>
            <a:r>
              <a:rPr lang="pl-PL">
                <a:ea typeface="+mn-lt"/>
                <a:cs typeface="+mn-lt"/>
              </a:rPr>
              <a:t>Należy korzystać ze sprawdzonych bibliotek i gotowych implementacji algorytmów kryptograficznych, zamiast pisać własne mechanizmy. W kryptografii własne rozwiązania bardzo często prowadzą do błędów, które wyglądają poprawnie, ale są łamliwe.</a:t>
            </a:r>
            <a:endParaRPr lang="pl-PL"/>
          </a:p>
          <a:p>
            <a:pPr marL="457200" indent="-457200"/>
            <a:r>
              <a:rPr lang="pl-PL">
                <a:ea typeface="+mn-lt"/>
                <a:cs typeface="+mn-lt"/>
              </a:rPr>
              <a:t>Minimalizacja ilości przechowywanych danych</a:t>
            </a:r>
            <a:br>
              <a:rPr lang="pl-PL">
                <a:ea typeface="+mn-lt"/>
                <a:cs typeface="+mn-lt"/>
              </a:rPr>
            </a:br>
            <a:r>
              <a:rPr lang="pl-PL">
                <a:ea typeface="+mn-lt"/>
                <a:cs typeface="+mn-lt"/>
              </a:rPr>
              <a:t>Dane wrażliwe nie powinny być trzymane dłużej niż to konieczne; najlepiej usuwać je jak najszybciej albo zastępować tokenizacją lub skróceniem. Im mniej danych jest fizycznie zapisanych, tym mniej można stracić przy incydencie.</a:t>
            </a:r>
            <a:endParaRPr lang="pl-PL"/>
          </a:p>
          <a:p>
            <a:pPr marL="457200" indent="-457200"/>
            <a:r>
              <a:rPr lang="pl-PL">
                <a:ea typeface="+mn-lt"/>
                <a:cs typeface="+mn-lt"/>
              </a:rPr>
              <a:t>Szyfrowanie danych w spoczynku</a:t>
            </a:r>
            <a:br>
              <a:rPr lang="pl-PL">
                <a:ea typeface="+mn-lt"/>
                <a:cs typeface="+mn-lt"/>
              </a:rPr>
            </a:br>
            <a:r>
              <a:rPr lang="pl-PL">
                <a:ea typeface="+mn-lt"/>
                <a:cs typeface="+mn-lt"/>
              </a:rPr>
              <a:t>Wszystkie dane poufne powinny być szyfrowane na dysku lub w bazie danych. To ogranicza skutki kradzieży nośnika, kopii zapasowej albo nieautoryzowanego dostępu do magazynu danych.</a:t>
            </a:r>
            <a:endParaRPr lang="pl-PL"/>
          </a:p>
          <a:p>
            <a:pPr marL="457200" indent="-457200"/>
            <a:r>
              <a:rPr lang="pl-PL">
                <a:ea typeface="+mn-lt"/>
                <a:cs typeface="+mn-lt"/>
              </a:rPr>
              <a:t>Dobieranie zabezpieczeń do klasy danych</a:t>
            </a:r>
            <a:br>
              <a:rPr lang="pl-PL">
                <a:ea typeface="+mn-lt"/>
                <a:cs typeface="+mn-lt"/>
              </a:rPr>
            </a:br>
            <a:r>
              <a:rPr lang="pl-PL">
                <a:ea typeface="+mn-lt"/>
                <a:cs typeface="+mn-lt"/>
              </a:rPr>
              <a:t>Im wyższa klasyfikacja danych, tym mocniejsze powinny być stosowane kontrole bezpieczeństwa. To oznacza np. silniejsze uwierzytelnianie, ostrzejsze ograniczenia dostępu i bardziej rygorystyczne logowanie działań.</a:t>
            </a:r>
          </a:p>
        </p:txBody>
      </p:sp>
    </p:spTree>
    <p:extLst>
      <p:ext uri="{BB962C8B-B14F-4D97-AF65-F5344CB8AC3E}">
        <p14:creationId xmlns:p14="http://schemas.microsoft.com/office/powerpoint/2010/main" val="629159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C730DC9-8BCC-EF20-2483-FA9E48471B05}"/>
              </a:ext>
            </a:extLst>
          </p:cNvPr>
          <p:cNvSpPr>
            <a:spLocks noGrp="1"/>
          </p:cNvSpPr>
          <p:nvPr>
            <p:ph type="ctrTitle"/>
          </p:nvPr>
        </p:nvSpPr>
        <p:spPr>
          <a:xfrm>
            <a:off x="1369786" y="541792"/>
            <a:ext cx="9144000" cy="2387600"/>
          </a:xfrm>
        </p:spPr>
        <p:txBody>
          <a:bodyPr>
            <a:normAutofit/>
          </a:bodyPr>
          <a:lstStyle/>
          <a:p>
            <a:r>
              <a:rPr lang="pl-PL" sz="5400">
                <a:latin typeface="Aptos"/>
              </a:rPr>
              <a:t>Injection</a:t>
            </a:r>
          </a:p>
        </p:txBody>
      </p:sp>
      <p:sp>
        <p:nvSpPr>
          <p:cNvPr id="3" name="Symbol zastępczy zawartości 2">
            <a:extLst>
              <a:ext uri="{FF2B5EF4-FFF2-40B4-BE49-F238E27FC236}">
                <a16:creationId xmlns:a16="http://schemas.microsoft.com/office/drawing/2014/main" id="{E8E61FB6-E36B-90D6-C281-DDF8F68A0EBA}"/>
              </a:ext>
            </a:extLst>
          </p:cNvPr>
          <p:cNvSpPr>
            <a:spLocks noGrp="1"/>
          </p:cNvSpPr>
          <p:nvPr>
            <p:ph type="subTitle" idx="1"/>
          </p:nvPr>
        </p:nvSpPr>
        <p:spPr>
          <a:xfrm>
            <a:off x="1369786" y="3021467"/>
            <a:ext cx="9144000" cy="1655762"/>
          </a:xfrm>
        </p:spPr>
        <p:txBody>
          <a:bodyPr vert="horz" lIns="91440" tIns="45720" rIns="91440" bIns="45720" rtlCol="0" anchor="t">
            <a:normAutofit/>
          </a:bodyPr>
          <a:lstStyle/>
          <a:p>
            <a:pPr marL="0" indent="0">
              <a:buNone/>
            </a:pPr>
            <a:r>
              <a:rPr lang="pl-PL">
                <a:ea typeface="+mn-lt"/>
                <a:cs typeface="+mn-lt"/>
              </a:rPr>
              <a:t>To podatność, w której nieufne dane użytkownika trafiają do interpretera, a ten wykonuje je jak polecenia albo fragmenty zapytania. Skutek bywa bardzo silny: od SQL Injection i command injection po XSS, LDAP injection czy code injection, czyli przejęcie logiki wykonywanej przez silnik pośredni.</a:t>
            </a:r>
            <a:endParaRPr lang="pl-PL"/>
          </a:p>
        </p:txBody>
      </p:sp>
    </p:spTree>
    <p:extLst>
      <p:ext uri="{BB962C8B-B14F-4D97-AF65-F5344CB8AC3E}">
        <p14:creationId xmlns:p14="http://schemas.microsoft.com/office/powerpoint/2010/main" val="1441661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BAB25-6BBD-0346-9EB9-4CEC7A5E6924}"/>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942DDBD1-4D01-89AD-3149-B3C7B1FD71B0}"/>
              </a:ext>
            </a:extLst>
          </p:cNvPr>
          <p:cNvSpPr>
            <a:spLocks noGrp="1"/>
          </p:cNvSpPr>
          <p:nvPr>
            <p:ph type="title"/>
          </p:nvPr>
        </p:nvSpPr>
        <p:spPr>
          <a:xfrm>
            <a:off x="838200" y="365125"/>
            <a:ext cx="10515600" cy="604977"/>
          </a:xfrm>
        </p:spPr>
        <p:txBody>
          <a:bodyPr/>
          <a:lstStyle/>
          <a:p>
            <a:r>
              <a:rPr lang="pl-PL" sz="2800">
                <a:latin typeface="Aptos"/>
              </a:rPr>
              <a:t>Injection (37 CWEs)</a:t>
            </a:r>
          </a:p>
        </p:txBody>
      </p:sp>
      <p:sp>
        <p:nvSpPr>
          <p:cNvPr id="3" name="Symbol zastępczy zawartości 2">
            <a:extLst>
              <a:ext uri="{FF2B5EF4-FFF2-40B4-BE49-F238E27FC236}">
                <a16:creationId xmlns:a16="http://schemas.microsoft.com/office/drawing/2014/main" id="{B6B16FE3-7A4E-29BB-34DB-40E5608CA043}"/>
              </a:ext>
            </a:extLst>
          </p:cNvPr>
          <p:cNvSpPr>
            <a:spLocks noGrp="1"/>
          </p:cNvSpPr>
          <p:nvPr>
            <p:ph idx="1"/>
          </p:nvPr>
        </p:nvSpPr>
        <p:spPr>
          <a:xfrm>
            <a:off x="838200" y="1254125"/>
            <a:ext cx="10515600" cy="4922838"/>
          </a:xfrm>
        </p:spPr>
        <p:txBody>
          <a:bodyPr vert="horz" lIns="91440" tIns="45720" rIns="91440" bIns="45720" rtlCol="0" anchor="t">
            <a:normAutofit fontScale="92500" lnSpcReduction="10000"/>
          </a:bodyPr>
          <a:lstStyle/>
          <a:p>
            <a:pPr>
              <a:buFont typeface="Arial"/>
              <a:buChar char="•"/>
            </a:pPr>
            <a:r>
              <a:rPr lang="pl-PL" b="1">
                <a:ea typeface="+mn-lt"/>
                <a:cs typeface="+mn-lt"/>
              </a:rPr>
              <a:t>CWE-20 (Improper Input Validation)</a:t>
            </a:r>
            <a:r>
              <a:rPr lang="pl-PL">
                <a:ea typeface="+mn-lt"/>
                <a:cs typeface="+mn-lt"/>
              </a:rPr>
              <a:t> — Dane wejściowe nie są odpowiednio sprawdzane, co umożliwia ich nadużycie. </a:t>
            </a:r>
            <a:endParaRPr lang="pl-PL"/>
          </a:p>
          <a:p>
            <a:pPr>
              <a:buFont typeface="Arial"/>
              <a:buChar char="•"/>
            </a:pPr>
            <a:r>
              <a:rPr lang="pl-PL" b="1">
                <a:ea typeface="+mn-lt"/>
                <a:cs typeface="+mn-lt"/>
              </a:rPr>
              <a:t>CWE-74 (Injection)</a:t>
            </a:r>
            <a:r>
              <a:rPr lang="pl-PL">
                <a:ea typeface="+mn-lt"/>
                <a:cs typeface="+mn-lt"/>
              </a:rPr>
              <a:t> — Aplikacja interpretuje dane wejściowe jako polecenia lub kod. </a:t>
            </a:r>
            <a:endParaRPr lang="pl-PL"/>
          </a:p>
          <a:p>
            <a:pPr>
              <a:buFont typeface="Arial"/>
              <a:buChar char="•"/>
            </a:pPr>
            <a:r>
              <a:rPr lang="pl-PL" b="1">
                <a:ea typeface="+mn-lt"/>
                <a:cs typeface="+mn-lt"/>
              </a:rPr>
              <a:t>CWE-77 (Command Injection)</a:t>
            </a:r>
            <a:r>
              <a:rPr lang="pl-PL">
                <a:ea typeface="+mn-lt"/>
                <a:cs typeface="+mn-lt"/>
              </a:rPr>
              <a:t> — Dane użytkownika trafiają do poleceń systemowych i są wykonywane przez system operacyjny. </a:t>
            </a:r>
          </a:p>
          <a:p>
            <a:pPr>
              <a:buFont typeface="Arial"/>
              <a:buChar char="•"/>
            </a:pPr>
            <a:r>
              <a:rPr lang="pl-PL" b="1">
                <a:ea typeface="+mn-lt"/>
                <a:cs typeface="+mn-lt"/>
              </a:rPr>
              <a:t>CWE-78 (OS Command Injection)</a:t>
            </a:r>
            <a:r>
              <a:rPr lang="pl-PL">
                <a:ea typeface="+mn-lt"/>
                <a:cs typeface="+mn-lt"/>
              </a:rPr>
              <a:t> — Szczególny przypadek command injection umożliwiający wykonanie komend systemowych. </a:t>
            </a:r>
            <a:endParaRPr lang="pl-PL"/>
          </a:p>
          <a:p>
            <a:pPr>
              <a:buFont typeface="Arial"/>
              <a:buChar char="•"/>
            </a:pPr>
            <a:r>
              <a:rPr lang="pl-PL" b="1">
                <a:ea typeface="+mn-lt"/>
                <a:cs typeface="+mn-lt"/>
              </a:rPr>
              <a:t>CWE-79 (Cross-Site Scripting, XSS)</a:t>
            </a:r>
            <a:r>
              <a:rPr lang="pl-PL">
                <a:ea typeface="+mn-lt"/>
                <a:cs typeface="+mn-lt"/>
              </a:rPr>
              <a:t> — Aplikacja wstawia niesprawdzone dane do strony, co pozwala uruchomić złośliwy JavaScript. </a:t>
            </a:r>
            <a:endParaRPr lang="pl-PL"/>
          </a:p>
          <a:p>
            <a:pPr>
              <a:buFont typeface="Arial"/>
              <a:buChar char="•"/>
            </a:pPr>
            <a:r>
              <a:rPr lang="pl-PL" b="1">
                <a:ea typeface="+mn-lt"/>
                <a:cs typeface="+mn-lt"/>
              </a:rPr>
              <a:t>CWE-89 (SQL Injection)</a:t>
            </a:r>
            <a:r>
              <a:rPr lang="pl-PL">
                <a:ea typeface="+mn-lt"/>
                <a:cs typeface="+mn-lt"/>
              </a:rPr>
              <a:t> — Dane wejściowe wpływają na zapytania SQL, umożliwiając manipulację bazą danych.</a:t>
            </a:r>
          </a:p>
          <a:p>
            <a:pPr marL="0" indent="0">
              <a:buNone/>
            </a:pPr>
            <a:endParaRPr lang="pl-PL"/>
          </a:p>
        </p:txBody>
      </p:sp>
    </p:spTree>
    <p:extLst>
      <p:ext uri="{BB962C8B-B14F-4D97-AF65-F5344CB8AC3E}">
        <p14:creationId xmlns:p14="http://schemas.microsoft.com/office/powerpoint/2010/main" val="1588728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9062F-61E6-FB8B-4E3D-B830184D2C29}"/>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4F252191-1A9E-D692-5B46-607479D29940}"/>
              </a:ext>
            </a:extLst>
          </p:cNvPr>
          <p:cNvSpPr>
            <a:spLocks noGrp="1"/>
          </p:cNvSpPr>
          <p:nvPr>
            <p:ph type="title"/>
          </p:nvPr>
        </p:nvSpPr>
        <p:spPr>
          <a:xfrm>
            <a:off x="838200" y="365125"/>
            <a:ext cx="10515600" cy="604977"/>
          </a:xfrm>
        </p:spPr>
        <p:txBody>
          <a:bodyPr/>
          <a:lstStyle/>
          <a:p>
            <a:r>
              <a:rPr lang="pl-PL" sz="2800">
                <a:latin typeface="Aptos"/>
              </a:rPr>
              <a:t>Injection</a:t>
            </a:r>
          </a:p>
        </p:txBody>
      </p:sp>
      <p:sp>
        <p:nvSpPr>
          <p:cNvPr id="3" name="Symbol zastępczy zawartości 2">
            <a:extLst>
              <a:ext uri="{FF2B5EF4-FFF2-40B4-BE49-F238E27FC236}">
                <a16:creationId xmlns:a16="http://schemas.microsoft.com/office/drawing/2014/main" id="{BA53B0F7-8ED8-A34B-9442-42CFD03158FE}"/>
              </a:ext>
            </a:extLst>
          </p:cNvPr>
          <p:cNvSpPr>
            <a:spLocks noGrp="1"/>
          </p:cNvSpPr>
          <p:nvPr>
            <p:ph idx="1"/>
          </p:nvPr>
        </p:nvSpPr>
        <p:spPr>
          <a:xfrm>
            <a:off x="838200" y="1254125"/>
            <a:ext cx="10515600" cy="4922838"/>
          </a:xfrm>
        </p:spPr>
        <p:txBody>
          <a:bodyPr vert="horz" lIns="91440" tIns="45720" rIns="91440" bIns="45720" rtlCol="0" anchor="t">
            <a:normAutofit fontScale="92500" lnSpcReduction="20000"/>
          </a:bodyPr>
          <a:lstStyle/>
          <a:p>
            <a:pPr marL="457200" indent="-457200"/>
            <a:r>
              <a:rPr lang="pl-PL">
                <a:ea typeface="+mn-lt"/>
                <a:cs typeface="+mn-lt"/>
              </a:rPr>
              <a:t>Używanie bezpiecznych API i ORM</a:t>
            </a:r>
            <a:br>
              <a:rPr lang="pl-PL">
                <a:ea typeface="+mn-lt"/>
                <a:cs typeface="+mn-lt"/>
              </a:rPr>
            </a:br>
            <a:r>
              <a:rPr lang="pl-PL">
                <a:ea typeface="+mn-lt"/>
                <a:cs typeface="+mn-lt"/>
              </a:rPr>
              <a:t>Najlepszą metodą ochrony przed wstrzyknięciami jest całkowite oddzielenie danych od poleceń poprzez bezpieczne API lub ORM. Takie podejście umożliwia parametryzację zapytań i eliminuje konieczność ręcznego składania poleceń, minimalizując ryzyko SQL injection.</a:t>
            </a:r>
            <a:endParaRPr lang="pl-PL"/>
          </a:p>
          <a:p>
            <a:pPr marL="457200" indent="-457200"/>
            <a:r>
              <a:rPr lang="pl-PL">
                <a:ea typeface="+mn-lt"/>
                <a:cs typeface="+mn-lt"/>
              </a:rPr>
              <a:t>Pozytywna walidacja po stronie serwera</a:t>
            </a:r>
            <a:br>
              <a:rPr lang="pl-PL">
                <a:ea typeface="+mn-lt"/>
                <a:cs typeface="+mn-lt"/>
              </a:rPr>
            </a:br>
            <a:r>
              <a:rPr lang="pl-PL">
                <a:ea typeface="+mn-lt"/>
                <a:cs typeface="+mn-lt"/>
              </a:rPr>
              <a:t>Warto weryfikować dane wejściowe według zestawu dozwolonych wzorców, akceptując tylko przewidywane znaki i formaty. Choć nie daje to pełnej ochrony, ogranicza wprowadzanie niebezpiecznych danych i wspiera dalsze mechanizmy bezpieczeństwa.</a:t>
            </a:r>
          </a:p>
          <a:p>
            <a:pPr marL="457200" indent="-457200"/>
            <a:r>
              <a:rPr lang="pl-PL">
                <a:ea typeface="+mn-lt"/>
                <a:cs typeface="+mn-lt"/>
              </a:rPr>
              <a:t>Unikanie dynamicznego składania zapytań w procedurach</a:t>
            </a:r>
            <a:br>
              <a:rPr lang="pl-PL">
                <a:ea typeface="+mn-lt"/>
                <a:cs typeface="+mn-lt"/>
              </a:rPr>
            </a:br>
            <a:r>
              <a:rPr lang="pl-PL">
                <a:ea typeface="+mn-lt"/>
                <a:cs typeface="+mn-lt"/>
              </a:rPr>
              <a:t>Nawet procedury składowane mogą być podatne, jeśli używają dynamicznego SQL (np. </a:t>
            </a:r>
            <a:r>
              <a:rPr lang="pl-PL">
                <a:latin typeface="Aptos"/>
              </a:rPr>
              <a:t>EXECUTE IMMEDIATE</a:t>
            </a:r>
            <a:r>
              <a:rPr lang="pl-PL">
                <a:ea typeface="+mn-lt"/>
                <a:cs typeface="+mn-lt"/>
              </a:rPr>
              <a:t>, </a:t>
            </a:r>
            <a:r>
              <a:rPr lang="pl-PL">
                <a:latin typeface="Aptos"/>
              </a:rPr>
              <a:t>exec()</a:t>
            </a:r>
            <a:r>
              <a:rPr lang="pl-PL">
                <a:ea typeface="+mn-lt"/>
                <a:cs typeface="+mn-lt"/>
              </a:rPr>
              <a:t>) i łączą dane z kodem. Należy unikać takiego podejścia, bo ponownie miesza ono dane z logiką zapytania.</a:t>
            </a:r>
          </a:p>
        </p:txBody>
      </p:sp>
    </p:spTree>
    <p:extLst>
      <p:ext uri="{BB962C8B-B14F-4D97-AF65-F5344CB8AC3E}">
        <p14:creationId xmlns:p14="http://schemas.microsoft.com/office/powerpoint/2010/main" val="722197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3D59CE7-A73B-054B-E3A6-C949F590F2BE}"/>
              </a:ext>
            </a:extLst>
          </p:cNvPr>
          <p:cNvSpPr>
            <a:spLocks noGrp="1"/>
          </p:cNvSpPr>
          <p:nvPr>
            <p:ph type="ctrTitle"/>
          </p:nvPr>
        </p:nvSpPr>
        <p:spPr>
          <a:xfrm>
            <a:off x="1524000" y="526440"/>
            <a:ext cx="9144000" cy="2387600"/>
          </a:xfrm>
        </p:spPr>
        <p:txBody>
          <a:bodyPr>
            <a:normAutofit/>
          </a:bodyPr>
          <a:lstStyle/>
          <a:p>
            <a:r>
              <a:rPr lang="pl-PL" sz="5400">
                <a:latin typeface="Aptos"/>
              </a:rPr>
              <a:t>Insecure Design</a:t>
            </a:r>
          </a:p>
        </p:txBody>
      </p:sp>
      <p:sp>
        <p:nvSpPr>
          <p:cNvPr id="3" name="Symbol zastępczy zawartości 2">
            <a:extLst>
              <a:ext uri="{FF2B5EF4-FFF2-40B4-BE49-F238E27FC236}">
                <a16:creationId xmlns:a16="http://schemas.microsoft.com/office/drawing/2014/main" id="{F4D08CC4-F59D-8AAB-0AAA-8E98611157E5}"/>
              </a:ext>
            </a:extLst>
          </p:cNvPr>
          <p:cNvSpPr>
            <a:spLocks noGrp="1"/>
          </p:cNvSpPr>
          <p:nvPr>
            <p:ph type="subTitle" idx="1"/>
          </p:nvPr>
        </p:nvSpPr>
        <p:spPr>
          <a:xfrm>
            <a:off x="1524000" y="3139395"/>
            <a:ext cx="9144000" cy="1655762"/>
          </a:xfrm>
        </p:spPr>
        <p:txBody>
          <a:bodyPr vert="horz" lIns="91440" tIns="45720" rIns="91440" bIns="45720" rtlCol="0" anchor="t">
            <a:normAutofit/>
          </a:bodyPr>
          <a:lstStyle/>
          <a:p>
            <a:pPr marL="0" indent="0">
              <a:buNone/>
            </a:pPr>
            <a:r>
              <a:rPr lang="pl-PL">
                <a:ea typeface="+mn-lt"/>
                <a:cs typeface="+mn-lt"/>
              </a:rPr>
              <a:t>To błędy na poziomie projektu, czyli „brak lub nieskuteczny projekt kontroli bezpieczeństwa”. Różnica względem błędów implementacji jest taka, że tutaj sama architektura albo model działania nie przewiduje odpowiedniej ochrony przed klasą ataku, więc nawet poprawne kodowanie nie usuwa źródła problemu.</a:t>
            </a:r>
          </a:p>
          <a:p>
            <a:pPr marL="0" indent="0">
              <a:buNone/>
            </a:pPr>
            <a:endParaRPr lang="pl-PL"/>
          </a:p>
        </p:txBody>
      </p:sp>
    </p:spTree>
    <p:extLst>
      <p:ext uri="{BB962C8B-B14F-4D97-AF65-F5344CB8AC3E}">
        <p14:creationId xmlns:p14="http://schemas.microsoft.com/office/powerpoint/2010/main" val="24084923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81AF5-56A7-88CB-FFF5-AE08161FC81B}"/>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8C9741BD-8167-8EDA-120F-6F3935B1564F}"/>
              </a:ext>
            </a:extLst>
          </p:cNvPr>
          <p:cNvSpPr>
            <a:spLocks noGrp="1"/>
          </p:cNvSpPr>
          <p:nvPr>
            <p:ph type="title"/>
          </p:nvPr>
        </p:nvSpPr>
        <p:spPr>
          <a:xfrm>
            <a:off x="838200" y="365125"/>
            <a:ext cx="10515600" cy="497712"/>
          </a:xfrm>
        </p:spPr>
        <p:txBody>
          <a:bodyPr>
            <a:normAutofit/>
          </a:bodyPr>
          <a:lstStyle/>
          <a:p>
            <a:r>
              <a:rPr lang="pl-PL" sz="2800">
                <a:latin typeface="Aptos"/>
              </a:rPr>
              <a:t>Insecure Design (33 CWEs)</a:t>
            </a:r>
          </a:p>
        </p:txBody>
      </p:sp>
      <p:sp>
        <p:nvSpPr>
          <p:cNvPr id="3" name="Symbol zastępczy zawartości 2">
            <a:extLst>
              <a:ext uri="{FF2B5EF4-FFF2-40B4-BE49-F238E27FC236}">
                <a16:creationId xmlns:a16="http://schemas.microsoft.com/office/drawing/2014/main" id="{94C44223-3BC0-BAB3-3210-27E92566356B}"/>
              </a:ext>
            </a:extLst>
          </p:cNvPr>
          <p:cNvSpPr>
            <a:spLocks noGrp="1"/>
          </p:cNvSpPr>
          <p:nvPr>
            <p:ph idx="1"/>
          </p:nvPr>
        </p:nvSpPr>
        <p:spPr>
          <a:xfrm>
            <a:off x="838200" y="1176514"/>
            <a:ext cx="10515600" cy="5000449"/>
          </a:xfrm>
        </p:spPr>
        <p:txBody>
          <a:bodyPr vert="horz" lIns="91440" tIns="45720" rIns="91440" bIns="45720" rtlCol="0" anchor="t">
            <a:normAutofit fontScale="92500" lnSpcReduction="10000"/>
          </a:bodyPr>
          <a:lstStyle/>
          <a:p>
            <a:pPr>
              <a:buFont typeface="Arial"/>
              <a:buChar char="•"/>
            </a:pPr>
            <a:r>
              <a:rPr lang="pl-PL" b="1">
                <a:ea typeface="+mn-lt"/>
                <a:cs typeface="+mn-lt"/>
              </a:rPr>
              <a:t>CWE-269 (Improper Privilege Management)</a:t>
            </a:r>
            <a:r>
              <a:rPr lang="pl-PL">
                <a:ea typeface="+mn-lt"/>
                <a:cs typeface="+mn-lt"/>
              </a:rPr>
              <a:t> — System nie zarządza poprawnie poziomami uprawnień użytkowników. </a:t>
            </a:r>
            <a:endParaRPr lang="pl-PL"/>
          </a:p>
          <a:p>
            <a:pPr>
              <a:buFont typeface="Arial"/>
              <a:buChar char="•"/>
            </a:pPr>
            <a:r>
              <a:rPr lang="pl-PL" b="1">
                <a:ea typeface="+mn-lt"/>
                <a:cs typeface="+mn-lt"/>
              </a:rPr>
              <a:t>CWE-434 (Unrestricted File Upload)</a:t>
            </a:r>
            <a:r>
              <a:rPr lang="pl-PL">
                <a:ea typeface="+mn-lt"/>
                <a:cs typeface="+mn-lt"/>
              </a:rPr>
              <a:t> — Aplikacja pozwala przesyłać niebezpieczne pliki bez kontroli. </a:t>
            </a:r>
            <a:endParaRPr lang="pl-PL"/>
          </a:p>
          <a:p>
            <a:pPr>
              <a:buFont typeface="Arial"/>
              <a:buChar char="•"/>
            </a:pPr>
            <a:r>
              <a:rPr lang="pl-PL" b="1">
                <a:ea typeface="+mn-lt"/>
                <a:cs typeface="+mn-lt"/>
              </a:rPr>
              <a:t>CWE-501 (Trust Boundary Violation)</a:t>
            </a:r>
            <a:r>
              <a:rPr lang="pl-PL">
                <a:ea typeface="+mn-lt"/>
                <a:cs typeface="+mn-lt"/>
              </a:rPr>
              <a:t> — Dane przekraczają granice zaufania bez odpowiedniej weryfikacji. </a:t>
            </a:r>
            <a:endParaRPr lang="pl-PL"/>
          </a:p>
          <a:p>
            <a:pPr>
              <a:buFont typeface="Arial"/>
              <a:buChar char="•"/>
            </a:pPr>
            <a:r>
              <a:rPr lang="pl-PL" b="1">
                <a:ea typeface="+mn-lt"/>
                <a:cs typeface="+mn-lt"/>
              </a:rPr>
              <a:t>CWE-602 (Client-Side Enforcement)</a:t>
            </a:r>
            <a:r>
              <a:rPr lang="pl-PL">
                <a:ea typeface="+mn-lt"/>
                <a:cs typeface="+mn-lt"/>
              </a:rPr>
              <a:t> — Krytyczne sprawdzenia bezpieczeństwa wykonywane są tylko po stronie klienta. </a:t>
            </a:r>
            <a:endParaRPr lang="pl-PL"/>
          </a:p>
          <a:p>
            <a:pPr>
              <a:buFont typeface="Arial"/>
              <a:buChar char="•"/>
            </a:pPr>
            <a:r>
              <a:rPr lang="pl-PL" b="1">
                <a:ea typeface="+mn-lt"/>
                <a:cs typeface="+mn-lt"/>
              </a:rPr>
              <a:t>CWE-841 (Improper Workflow Enforcement)</a:t>
            </a:r>
            <a:r>
              <a:rPr lang="pl-PL">
                <a:ea typeface="+mn-lt"/>
                <a:cs typeface="+mn-lt"/>
              </a:rPr>
              <a:t> — Aplikacja nie wymusza poprawnej kolejności działań użytkownika. </a:t>
            </a:r>
            <a:endParaRPr lang="pl-PL"/>
          </a:p>
          <a:p>
            <a:pPr>
              <a:buFont typeface="Arial"/>
              <a:buChar char="•"/>
            </a:pPr>
            <a:r>
              <a:rPr lang="pl-PL" b="1">
                <a:ea typeface="+mn-lt"/>
                <a:cs typeface="+mn-lt"/>
              </a:rPr>
              <a:t>CWE-1021 (UI Layer Restriction Failure)</a:t>
            </a:r>
            <a:r>
              <a:rPr lang="pl-PL">
                <a:ea typeface="+mn-lt"/>
                <a:cs typeface="+mn-lt"/>
              </a:rPr>
              <a:t> — Interfejs użytkownika nie ogranicza poprawnie dostępu do funkcji lub danych.</a:t>
            </a:r>
            <a:endParaRPr lang="pl-PL"/>
          </a:p>
          <a:p>
            <a:pPr marL="0" indent="0">
              <a:buNone/>
            </a:pPr>
            <a:endParaRPr lang="pl-PL"/>
          </a:p>
        </p:txBody>
      </p:sp>
    </p:spTree>
    <p:extLst>
      <p:ext uri="{BB962C8B-B14F-4D97-AF65-F5344CB8AC3E}">
        <p14:creationId xmlns:p14="http://schemas.microsoft.com/office/powerpoint/2010/main" val="32196441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8E10E-190D-879E-B64D-DC42312020C8}"/>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F84AD5A4-DB05-1C30-0C41-5A853F0C2E44}"/>
              </a:ext>
            </a:extLst>
          </p:cNvPr>
          <p:cNvSpPr>
            <a:spLocks noGrp="1"/>
          </p:cNvSpPr>
          <p:nvPr>
            <p:ph type="title"/>
          </p:nvPr>
        </p:nvSpPr>
        <p:spPr>
          <a:xfrm>
            <a:off x="838200" y="365125"/>
            <a:ext cx="10515600" cy="497712"/>
          </a:xfrm>
        </p:spPr>
        <p:txBody>
          <a:bodyPr>
            <a:normAutofit/>
          </a:bodyPr>
          <a:lstStyle/>
          <a:p>
            <a:r>
              <a:rPr lang="pl-PL" sz="2800">
                <a:latin typeface="Aptos"/>
              </a:rPr>
              <a:t>Insecure Design</a:t>
            </a:r>
          </a:p>
        </p:txBody>
      </p:sp>
      <p:sp>
        <p:nvSpPr>
          <p:cNvPr id="3" name="Symbol zastępczy zawartości 2">
            <a:extLst>
              <a:ext uri="{FF2B5EF4-FFF2-40B4-BE49-F238E27FC236}">
                <a16:creationId xmlns:a16="http://schemas.microsoft.com/office/drawing/2014/main" id="{2D371152-132B-D06B-BBB5-7D683786301A}"/>
              </a:ext>
            </a:extLst>
          </p:cNvPr>
          <p:cNvSpPr>
            <a:spLocks noGrp="1"/>
          </p:cNvSpPr>
          <p:nvPr>
            <p:ph idx="1"/>
          </p:nvPr>
        </p:nvSpPr>
        <p:spPr>
          <a:xfrm>
            <a:off x="838200" y="1176514"/>
            <a:ext cx="10515600" cy="5000449"/>
          </a:xfrm>
        </p:spPr>
        <p:txBody>
          <a:bodyPr vert="horz" lIns="91440" tIns="45720" rIns="91440" bIns="45720" rtlCol="0" anchor="t">
            <a:normAutofit fontScale="77500" lnSpcReduction="20000"/>
          </a:bodyPr>
          <a:lstStyle/>
          <a:p>
            <a:r>
              <a:rPr lang="pl-PL">
                <a:ea typeface="+mn-lt"/>
                <a:cs typeface="+mn-lt"/>
              </a:rPr>
              <a:t>Testy jednostkowe i integracyjne odporności na zagrożenia</a:t>
            </a:r>
            <a:br>
              <a:rPr lang="pl-PL">
                <a:ea typeface="+mn-lt"/>
                <a:cs typeface="+mn-lt"/>
              </a:rPr>
            </a:br>
            <a:r>
              <a:rPr lang="pl-PL">
                <a:ea typeface="+mn-lt"/>
                <a:cs typeface="+mn-lt"/>
              </a:rPr>
              <a:t>Należy pisać testy, które sprawdzają odporność krytycznych przepływów na zidentyfikowane zagrożenia. Tworzenie scenariuszy użycia i nadużycia dla każdej warstwy pozwala wykryć luki zanim trafią do produkcji.</a:t>
            </a:r>
            <a:endParaRPr lang="pl-PL"/>
          </a:p>
          <a:p>
            <a:r>
              <a:rPr lang="pl-PL">
                <a:ea typeface="+mn-lt"/>
                <a:cs typeface="+mn-lt"/>
              </a:rPr>
              <a:t>Biblioteka bezpiecznych wzorców projektowych i komponentów</a:t>
            </a:r>
            <a:br>
              <a:rPr lang="pl-PL">
                <a:ea typeface="+mn-lt"/>
                <a:cs typeface="+mn-lt"/>
              </a:rPr>
            </a:br>
            <a:r>
              <a:rPr lang="pl-PL">
                <a:ea typeface="+mn-lt"/>
                <a:cs typeface="+mn-lt"/>
              </a:rPr>
              <a:t>Warto utrzymywać zestaw sprawdzonych, „paved-road” komponentów i wzorców projektowych, które upraszczają implementację bezpiecznych funkcji. To skraca czas wytwarzania kodu i zmniejsza ryzyko powielania błędów w wielu miejscach aplikacji.</a:t>
            </a:r>
            <a:endParaRPr lang="pl-PL"/>
          </a:p>
          <a:p>
            <a:r>
              <a:rPr lang="pl-PL">
                <a:ea typeface="+mn-lt"/>
                <a:cs typeface="+mn-lt"/>
              </a:rPr>
              <a:t>Modelowanie zagrożeń dla krytycznych części aplikacji</a:t>
            </a:r>
            <a:br>
              <a:rPr lang="pl-PL">
                <a:ea typeface="+mn-lt"/>
                <a:cs typeface="+mn-lt"/>
              </a:rPr>
            </a:br>
            <a:r>
              <a:rPr lang="pl-PL">
                <a:ea typeface="+mn-lt"/>
                <a:cs typeface="+mn-lt"/>
              </a:rPr>
              <a:t>Dla kluczowych obszarów, takich jak uwierzytelnianie, kontrola dostępu, logika biznesowa czy kluczowe przepływy danych, należy przeprowadzać modelowanie zagrożeń. To pozwala zidentyfikować potencjalne ataki i wprowadzić odpowiednie środki zaradcze już na etapie projektowania.</a:t>
            </a:r>
            <a:endParaRPr lang="pl-PL"/>
          </a:p>
          <a:p>
            <a:r>
              <a:rPr lang="pl-PL">
                <a:ea typeface="+mn-lt"/>
                <a:cs typeface="+mn-lt"/>
              </a:rPr>
              <a:t>Sprawdzanie poprawności na każdym poziomie aplikacji</a:t>
            </a:r>
            <a:br>
              <a:rPr lang="pl-PL">
                <a:ea typeface="+mn-lt"/>
                <a:cs typeface="+mn-lt"/>
              </a:rPr>
            </a:br>
            <a:r>
              <a:rPr lang="pl-PL">
                <a:ea typeface="+mn-lt"/>
                <a:cs typeface="+mn-lt"/>
              </a:rPr>
              <a:t>Każda warstwa, od frontendu po backend, powinna zawierać mechanizmy walidacji i plausibility checks. To zmniejsza ryzyko, że złośliwe dane lub niepoprawne przepływy przejdą przez system niezauważone.</a:t>
            </a:r>
            <a:endParaRPr lang="pl-PL"/>
          </a:p>
        </p:txBody>
      </p:sp>
    </p:spTree>
    <p:extLst>
      <p:ext uri="{BB962C8B-B14F-4D97-AF65-F5344CB8AC3E}">
        <p14:creationId xmlns:p14="http://schemas.microsoft.com/office/powerpoint/2010/main" val="3325332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3F510B4-F660-8049-5673-3F0742AAE2AA}"/>
              </a:ext>
            </a:extLst>
          </p:cNvPr>
          <p:cNvSpPr>
            <a:spLocks noGrp="1"/>
          </p:cNvSpPr>
          <p:nvPr>
            <p:ph type="ctrTitle"/>
          </p:nvPr>
        </p:nvSpPr>
        <p:spPr>
          <a:xfrm>
            <a:off x="1514929" y="641577"/>
            <a:ext cx="9144000" cy="2387600"/>
          </a:xfrm>
        </p:spPr>
        <p:txBody>
          <a:bodyPr>
            <a:normAutofit/>
          </a:bodyPr>
          <a:lstStyle/>
          <a:p>
            <a:r>
              <a:rPr lang="pl-PL" sz="5400">
                <a:latin typeface="Aptos"/>
              </a:rPr>
              <a:t>Authentication Failures</a:t>
            </a:r>
          </a:p>
        </p:txBody>
      </p:sp>
      <p:sp>
        <p:nvSpPr>
          <p:cNvPr id="3" name="Symbol zastępczy zawartości 2">
            <a:extLst>
              <a:ext uri="{FF2B5EF4-FFF2-40B4-BE49-F238E27FC236}">
                <a16:creationId xmlns:a16="http://schemas.microsoft.com/office/drawing/2014/main" id="{093FA7B2-D2DB-56D2-307F-434DFF0B04BB}"/>
              </a:ext>
            </a:extLst>
          </p:cNvPr>
          <p:cNvSpPr>
            <a:spLocks noGrp="1"/>
          </p:cNvSpPr>
          <p:nvPr>
            <p:ph type="subTitle" idx="1"/>
          </p:nvPr>
        </p:nvSpPr>
        <p:spPr>
          <a:xfrm>
            <a:off x="1514929" y="3121252"/>
            <a:ext cx="9144000" cy="1655762"/>
          </a:xfrm>
        </p:spPr>
        <p:txBody>
          <a:bodyPr vert="horz" lIns="91440" tIns="45720" rIns="91440" bIns="45720" rtlCol="0" anchor="t">
            <a:noAutofit/>
          </a:bodyPr>
          <a:lstStyle/>
          <a:p>
            <a:pPr marL="0" indent="0">
              <a:buNone/>
            </a:pPr>
            <a:r>
              <a:rPr lang="pl-PL">
                <a:ea typeface="+mn-lt"/>
                <a:cs typeface="+mn-lt"/>
              </a:rPr>
              <a:t>Ta kategoria dotyczy sytuacji, gdy system błędnie uznaje niewłaściwego użytkownika za prawidłowego albo pozwala zbyt łatwo obejść uwierzytelnianie. Zagrożenie obejmuje m.in. credential stuffing, brute force, słabe hasła, słabe odzyskiwanie konta, brak skutecznego MFA oraz problemy z sesjami i tokenami. </a:t>
            </a:r>
            <a:endParaRPr lang="pl-PL"/>
          </a:p>
          <a:p>
            <a:pPr marL="0" indent="0">
              <a:buNone/>
            </a:pPr>
            <a:endParaRPr lang="pl-PL" dirty="0">
              <a:ea typeface="+mn-lt"/>
              <a:cs typeface="+mn-lt"/>
            </a:endParaRPr>
          </a:p>
        </p:txBody>
      </p:sp>
    </p:spTree>
    <p:extLst>
      <p:ext uri="{BB962C8B-B14F-4D97-AF65-F5344CB8AC3E}">
        <p14:creationId xmlns:p14="http://schemas.microsoft.com/office/powerpoint/2010/main" val="2773093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FACB4-5217-E046-BFFE-6BDE0C457791}"/>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D5352160-6B47-DFEF-D010-6743378E675F}"/>
              </a:ext>
            </a:extLst>
          </p:cNvPr>
          <p:cNvSpPr>
            <a:spLocks noGrp="1"/>
          </p:cNvSpPr>
          <p:nvPr>
            <p:ph type="title"/>
          </p:nvPr>
        </p:nvSpPr>
        <p:spPr>
          <a:xfrm>
            <a:off x="838200" y="365125"/>
            <a:ext cx="10515600" cy="554156"/>
          </a:xfrm>
        </p:spPr>
        <p:txBody>
          <a:bodyPr/>
          <a:lstStyle/>
          <a:p>
            <a:r>
              <a:rPr lang="pl-PL" sz="2800">
                <a:latin typeface="Aptos"/>
              </a:rPr>
              <a:t>Authentication Failures (36 CWEs)</a:t>
            </a:r>
          </a:p>
        </p:txBody>
      </p:sp>
      <p:sp>
        <p:nvSpPr>
          <p:cNvPr id="3" name="Symbol zastępczy zawartości 2">
            <a:extLst>
              <a:ext uri="{FF2B5EF4-FFF2-40B4-BE49-F238E27FC236}">
                <a16:creationId xmlns:a16="http://schemas.microsoft.com/office/drawing/2014/main" id="{397A68C9-4E97-BB76-1B68-628A0A824117}"/>
              </a:ext>
            </a:extLst>
          </p:cNvPr>
          <p:cNvSpPr>
            <a:spLocks noGrp="1"/>
          </p:cNvSpPr>
          <p:nvPr>
            <p:ph idx="1"/>
          </p:nvPr>
        </p:nvSpPr>
        <p:spPr>
          <a:xfrm>
            <a:off x="838200" y="988366"/>
            <a:ext cx="10515600" cy="5188597"/>
          </a:xfrm>
        </p:spPr>
        <p:txBody>
          <a:bodyPr vert="horz" lIns="91440" tIns="45720" rIns="91440" bIns="45720" rtlCol="0" anchor="t">
            <a:normAutofit lnSpcReduction="10000"/>
          </a:bodyPr>
          <a:lstStyle/>
          <a:p>
            <a:pPr>
              <a:buFont typeface="Arial"/>
              <a:buChar char="•"/>
            </a:pPr>
            <a:r>
              <a:rPr lang="pl-PL" b="1">
                <a:ea typeface="+mn-lt"/>
                <a:cs typeface="+mn-lt"/>
              </a:rPr>
              <a:t>CWE-307 (Improper Restriction of Excessive Attempts)</a:t>
            </a:r>
            <a:r>
              <a:rPr lang="pl-PL">
                <a:ea typeface="+mn-lt"/>
                <a:cs typeface="+mn-lt"/>
              </a:rPr>
              <a:t> — Brak ograniczeń liczby prób logowania umożliwia brute force. </a:t>
            </a:r>
            <a:endParaRPr lang="pl-PL"/>
          </a:p>
          <a:p>
            <a:pPr>
              <a:buFont typeface="Arial"/>
              <a:buChar char="•"/>
            </a:pPr>
            <a:r>
              <a:rPr lang="pl-PL" b="1">
                <a:ea typeface="+mn-lt"/>
                <a:cs typeface="+mn-lt"/>
              </a:rPr>
              <a:t>CWE-384 (Session Fixation)</a:t>
            </a:r>
            <a:r>
              <a:rPr lang="pl-PL">
                <a:ea typeface="+mn-lt"/>
                <a:cs typeface="+mn-lt"/>
              </a:rPr>
              <a:t> — Atakujący może narzucić identyfikator sesji ofierze. </a:t>
            </a:r>
          </a:p>
          <a:p>
            <a:pPr>
              <a:buFont typeface="Arial"/>
              <a:buChar char="•"/>
            </a:pPr>
            <a:r>
              <a:rPr lang="pl-PL" b="1">
                <a:ea typeface="+mn-lt"/>
                <a:cs typeface="+mn-lt"/>
              </a:rPr>
              <a:t>CWE-521 (Weak Password Requirements)</a:t>
            </a:r>
            <a:r>
              <a:rPr lang="pl-PL">
                <a:ea typeface="+mn-lt"/>
                <a:cs typeface="+mn-lt"/>
              </a:rPr>
              <a:t> — System dopuszcza słabe hasła. </a:t>
            </a:r>
          </a:p>
          <a:p>
            <a:pPr>
              <a:buFont typeface="Arial"/>
              <a:buChar char="•"/>
            </a:pPr>
            <a:r>
              <a:rPr lang="pl-PL" b="1">
                <a:ea typeface="+mn-lt"/>
                <a:cs typeface="+mn-lt"/>
              </a:rPr>
              <a:t>CWE-613 (Insufficient Session Expiration)</a:t>
            </a:r>
            <a:r>
              <a:rPr lang="pl-PL">
                <a:ea typeface="+mn-lt"/>
                <a:cs typeface="+mn-lt"/>
              </a:rPr>
              <a:t> — Sesje użytkowników wygasają zbyt późno lub wcale. </a:t>
            </a:r>
          </a:p>
          <a:p>
            <a:pPr>
              <a:buFont typeface="Arial"/>
              <a:buChar char="•"/>
            </a:pPr>
            <a:r>
              <a:rPr lang="pl-PL" b="1">
                <a:ea typeface="+mn-lt"/>
                <a:cs typeface="+mn-lt"/>
              </a:rPr>
              <a:t>CWE-640 (Weak Password Recovery)</a:t>
            </a:r>
            <a:r>
              <a:rPr lang="pl-PL">
                <a:ea typeface="+mn-lt"/>
                <a:cs typeface="+mn-lt"/>
              </a:rPr>
              <a:t> — Proces odzyskiwania hasła jest łatwy do przejęcia. </a:t>
            </a:r>
          </a:p>
          <a:p>
            <a:pPr>
              <a:buFont typeface="Arial"/>
              <a:buChar char="•"/>
            </a:pPr>
            <a:r>
              <a:rPr lang="pl-PL" b="1">
                <a:ea typeface="+mn-lt"/>
                <a:cs typeface="+mn-lt"/>
              </a:rPr>
              <a:t>CWE-798 (Hard-coded Credentials)</a:t>
            </a:r>
            <a:r>
              <a:rPr lang="pl-PL">
                <a:ea typeface="+mn-lt"/>
                <a:cs typeface="+mn-lt"/>
              </a:rPr>
              <a:t> — Dane logowania są zapisane na stałe w kodzie. </a:t>
            </a:r>
          </a:p>
          <a:p>
            <a:pPr marL="0" indent="0">
              <a:buNone/>
            </a:pPr>
            <a:endParaRPr lang="pl-PL"/>
          </a:p>
        </p:txBody>
      </p:sp>
    </p:spTree>
    <p:extLst>
      <p:ext uri="{BB962C8B-B14F-4D97-AF65-F5344CB8AC3E}">
        <p14:creationId xmlns:p14="http://schemas.microsoft.com/office/powerpoint/2010/main" val="40537494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373FD-79FC-9B12-44B3-65F48C965734}"/>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79411545-F570-7C56-B995-DCB68DDED030}"/>
              </a:ext>
            </a:extLst>
          </p:cNvPr>
          <p:cNvSpPr>
            <a:spLocks noGrp="1"/>
          </p:cNvSpPr>
          <p:nvPr>
            <p:ph type="title"/>
          </p:nvPr>
        </p:nvSpPr>
        <p:spPr>
          <a:xfrm>
            <a:off x="838200" y="365125"/>
            <a:ext cx="10515600" cy="554156"/>
          </a:xfrm>
        </p:spPr>
        <p:txBody>
          <a:bodyPr/>
          <a:lstStyle/>
          <a:p>
            <a:r>
              <a:rPr lang="pl-PL" sz="2800">
                <a:latin typeface="Aptos"/>
              </a:rPr>
              <a:t>Authentication Failures</a:t>
            </a:r>
          </a:p>
        </p:txBody>
      </p:sp>
      <p:sp>
        <p:nvSpPr>
          <p:cNvPr id="3" name="Symbol zastępczy zawartości 2">
            <a:extLst>
              <a:ext uri="{FF2B5EF4-FFF2-40B4-BE49-F238E27FC236}">
                <a16:creationId xmlns:a16="http://schemas.microsoft.com/office/drawing/2014/main" id="{6A95B2DB-603A-F021-BE4E-042D4FE7F19D}"/>
              </a:ext>
            </a:extLst>
          </p:cNvPr>
          <p:cNvSpPr>
            <a:spLocks noGrp="1"/>
          </p:cNvSpPr>
          <p:nvPr>
            <p:ph idx="1"/>
          </p:nvPr>
        </p:nvSpPr>
        <p:spPr>
          <a:xfrm>
            <a:off x="838200" y="988366"/>
            <a:ext cx="10515600" cy="5188597"/>
          </a:xfrm>
        </p:spPr>
        <p:txBody>
          <a:bodyPr vert="horz" lIns="91440" tIns="45720" rIns="91440" bIns="45720" rtlCol="0" anchor="t">
            <a:normAutofit fontScale="85000" lnSpcReduction="20000"/>
          </a:bodyPr>
          <a:lstStyle/>
          <a:p>
            <a:r>
              <a:rPr lang="pl-PL">
                <a:ea typeface="+mn-lt"/>
                <a:cs typeface="+mn-lt"/>
              </a:rPr>
              <a:t>Wymuszanie uwierzytelniania wieloskładnikowego (MFA)</a:t>
            </a:r>
            <a:br>
              <a:rPr lang="pl-PL">
                <a:ea typeface="+mn-lt"/>
                <a:cs typeface="+mn-lt"/>
              </a:rPr>
            </a:br>
            <a:r>
              <a:rPr lang="pl-PL">
                <a:ea typeface="+mn-lt"/>
                <a:cs typeface="+mn-lt"/>
              </a:rPr>
              <a:t>Tam, gdzie to możliwe, należy stosować MFA, aby chronić konta przed atakami typu credential stuffing, brute force i ponownym użyciem skradzionych danych uwierzytelniających. Nawet jeśli hasło zostanie przechwycone, atakujący nie uzyska dostępu bez drugiego czynnika.</a:t>
            </a:r>
            <a:endParaRPr lang="pl-PL"/>
          </a:p>
          <a:p>
            <a:r>
              <a:rPr lang="pl-PL">
                <a:ea typeface="+mn-lt"/>
                <a:cs typeface="+mn-lt"/>
              </a:rPr>
              <a:t>Zachęcanie do użycia menedżerów haseł</a:t>
            </a:r>
            <a:br>
              <a:rPr lang="pl-PL">
                <a:ea typeface="+mn-lt"/>
                <a:cs typeface="+mn-lt"/>
              </a:rPr>
            </a:br>
            <a:r>
              <a:rPr lang="pl-PL">
                <a:ea typeface="+mn-lt"/>
                <a:cs typeface="+mn-lt"/>
              </a:rPr>
              <a:t>Użytkownicy powinni być wspierani w stosowaniu menedżerów haseł, co ułatwia tworzenie silnych, unikalnych haseł i zmniejsza ryzyko powtarzania tych samych haseł w wielu usługach.</a:t>
            </a:r>
            <a:endParaRPr lang="pl-PL"/>
          </a:p>
          <a:p>
            <a:r>
              <a:rPr lang="pl-PL">
                <a:ea typeface="+mn-lt"/>
                <a:cs typeface="+mn-lt"/>
              </a:rPr>
              <a:t>Brak domyślnych poświadczeń</a:t>
            </a:r>
            <a:br>
              <a:rPr lang="pl-PL">
                <a:ea typeface="+mn-lt"/>
                <a:cs typeface="+mn-lt"/>
              </a:rPr>
            </a:br>
            <a:r>
              <a:rPr lang="pl-PL">
                <a:ea typeface="+mn-lt"/>
                <a:cs typeface="+mn-lt"/>
              </a:rPr>
              <a:t>Systemy nie powinny być dostarczane z predefiniowanymi hasłami, zwłaszcza dla kont administracyjnych. Domyślne dane uwierzytelniające są łatwym celem atakujących i muszą być zmienione przed pierwszym użyciem.</a:t>
            </a:r>
            <a:endParaRPr lang="pl-PL"/>
          </a:p>
          <a:p>
            <a:r>
              <a:rPr lang="pl-PL">
                <a:ea typeface="+mn-lt"/>
                <a:cs typeface="+mn-lt"/>
              </a:rPr>
              <a:t>Sprawdzanie słabych haseł</a:t>
            </a:r>
            <a:br>
              <a:rPr lang="pl-PL">
                <a:ea typeface="+mn-lt"/>
                <a:cs typeface="+mn-lt"/>
              </a:rPr>
            </a:br>
            <a:r>
              <a:rPr lang="pl-PL">
                <a:ea typeface="+mn-lt"/>
                <a:cs typeface="+mn-lt"/>
              </a:rPr>
              <a:t>Nowe i zmieniane hasła powinny być weryfikowane przeciwko listom najczęściej używanych lub najsłabszych haseł, np. top 10,000. To ogranicza ryzyko, że użytkownik wybierze łatwe do odgadnięcia hasło.</a:t>
            </a:r>
            <a:endParaRPr lang="pl-PL"/>
          </a:p>
        </p:txBody>
      </p:sp>
    </p:spTree>
    <p:extLst>
      <p:ext uri="{BB962C8B-B14F-4D97-AF65-F5344CB8AC3E}">
        <p14:creationId xmlns:p14="http://schemas.microsoft.com/office/powerpoint/2010/main" val="41302022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B7397AA-6BD8-E5C1-6866-405895580EEF}"/>
              </a:ext>
            </a:extLst>
          </p:cNvPr>
          <p:cNvSpPr>
            <a:spLocks noGrp="1"/>
          </p:cNvSpPr>
          <p:nvPr>
            <p:ph type="ctrTitle"/>
          </p:nvPr>
        </p:nvSpPr>
        <p:spPr>
          <a:xfrm>
            <a:off x="1505857" y="777649"/>
            <a:ext cx="9144000" cy="2387600"/>
          </a:xfrm>
        </p:spPr>
        <p:txBody>
          <a:bodyPr>
            <a:normAutofit/>
          </a:bodyPr>
          <a:lstStyle/>
          <a:p>
            <a:r>
              <a:rPr lang="pl-PL" sz="5400">
                <a:latin typeface="Aptos"/>
              </a:rPr>
              <a:t>Software or Data Integrity Failures</a:t>
            </a:r>
          </a:p>
        </p:txBody>
      </p:sp>
      <p:sp>
        <p:nvSpPr>
          <p:cNvPr id="3" name="Symbol zastępczy zawartości 2">
            <a:extLst>
              <a:ext uri="{FF2B5EF4-FFF2-40B4-BE49-F238E27FC236}">
                <a16:creationId xmlns:a16="http://schemas.microsoft.com/office/drawing/2014/main" id="{6A1502A6-473B-D1D6-2C6D-CAFEA88A8C84}"/>
              </a:ext>
            </a:extLst>
          </p:cNvPr>
          <p:cNvSpPr>
            <a:spLocks noGrp="1"/>
          </p:cNvSpPr>
          <p:nvPr>
            <p:ph type="subTitle" idx="1"/>
          </p:nvPr>
        </p:nvSpPr>
        <p:spPr>
          <a:xfrm>
            <a:off x="1505857" y="3257324"/>
            <a:ext cx="9144000" cy="1655762"/>
          </a:xfrm>
        </p:spPr>
        <p:txBody>
          <a:bodyPr vert="horz" lIns="91440" tIns="45720" rIns="91440" bIns="45720" rtlCol="0" anchor="t">
            <a:normAutofit/>
          </a:bodyPr>
          <a:lstStyle/>
          <a:p>
            <a:pPr marL="0" indent="0">
              <a:buNone/>
            </a:pPr>
            <a:r>
              <a:rPr lang="pl-PL">
                <a:ea typeface="+mn-lt"/>
                <a:cs typeface="+mn-lt"/>
              </a:rPr>
              <a:t>Chodzi o brak pewności, że kod albo dane pochodzą z zaufanego źródła i nie zostały podmienione. Problem pojawia się przy zależnościach z niepewnych repozytoriów, niezweryfikowanych aktualizacjach, niekontrolowanych pipeline’ach CI/CD oraz przy deserializacji danych, które atakujący może zmienić.</a:t>
            </a:r>
          </a:p>
          <a:p>
            <a:pPr marL="0" indent="0">
              <a:buNone/>
            </a:pPr>
            <a:endParaRPr lang="pl-PL"/>
          </a:p>
        </p:txBody>
      </p:sp>
    </p:spTree>
    <p:extLst>
      <p:ext uri="{BB962C8B-B14F-4D97-AF65-F5344CB8AC3E}">
        <p14:creationId xmlns:p14="http://schemas.microsoft.com/office/powerpoint/2010/main" val="13986355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0869C-2596-485C-1F45-13623F6651D4}"/>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AFC99A77-BA1E-C9AE-64DF-F6AE97F6CC6C}"/>
              </a:ext>
            </a:extLst>
          </p:cNvPr>
          <p:cNvSpPr>
            <a:spLocks noGrp="1"/>
          </p:cNvSpPr>
          <p:nvPr>
            <p:ph type="title"/>
          </p:nvPr>
        </p:nvSpPr>
        <p:spPr>
          <a:xfrm>
            <a:off x="838200" y="365125"/>
            <a:ext cx="10515600" cy="676452"/>
          </a:xfrm>
        </p:spPr>
        <p:txBody>
          <a:bodyPr/>
          <a:lstStyle/>
          <a:p>
            <a:r>
              <a:rPr lang="pl-PL" sz="2800">
                <a:latin typeface="Aptos"/>
              </a:rPr>
              <a:t>Software or Data Integrity Failures (14 CWEs)</a:t>
            </a:r>
          </a:p>
        </p:txBody>
      </p:sp>
      <p:sp>
        <p:nvSpPr>
          <p:cNvPr id="3" name="Symbol zastępczy zawartości 2">
            <a:extLst>
              <a:ext uri="{FF2B5EF4-FFF2-40B4-BE49-F238E27FC236}">
                <a16:creationId xmlns:a16="http://schemas.microsoft.com/office/drawing/2014/main" id="{A41E5BFE-2ABD-6403-3D8E-7A91DDB48349}"/>
              </a:ext>
            </a:extLst>
          </p:cNvPr>
          <p:cNvSpPr>
            <a:spLocks noGrp="1"/>
          </p:cNvSpPr>
          <p:nvPr>
            <p:ph idx="1"/>
          </p:nvPr>
        </p:nvSpPr>
        <p:spPr>
          <a:xfrm>
            <a:off x="838200" y="1223551"/>
            <a:ext cx="10515600" cy="4953412"/>
          </a:xfrm>
        </p:spPr>
        <p:txBody>
          <a:bodyPr vert="horz" lIns="91440" tIns="45720" rIns="91440" bIns="45720" rtlCol="0" anchor="t">
            <a:normAutofit/>
          </a:bodyPr>
          <a:lstStyle/>
          <a:p>
            <a:pPr>
              <a:buFont typeface="Arial"/>
              <a:buChar char="•"/>
            </a:pPr>
            <a:r>
              <a:rPr lang="pl-PL" b="1">
                <a:ea typeface="+mn-lt"/>
                <a:cs typeface="+mn-lt"/>
              </a:rPr>
              <a:t>CWE-345 (Insufficient Verification of Data Authenticity)</a:t>
            </a:r>
            <a:r>
              <a:rPr lang="pl-PL">
                <a:ea typeface="+mn-lt"/>
                <a:cs typeface="+mn-lt"/>
              </a:rPr>
              <a:t> — System nie sprawdza, czy dane są autentyczne i niezmienione. </a:t>
            </a:r>
            <a:endParaRPr lang="pl-PL"/>
          </a:p>
          <a:p>
            <a:pPr>
              <a:buFont typeface="Arial"/>
              <a:buChar char="•"/>
            </a:pPr>
            <a:r>
              <a:rPr lang="pl-PL" b="1">
                <a:ea typeface="+mn-lt"/>
                <a:cs typeface="+mn-lt"/>
              </a:rPr>
              <a:t>CWE-494 (Download Without Integrity Check)</a:t>
            </a:r>
            <a:r>
              <a:rPr lang="pl-PL">
                <a:ea typeface="+mn-lt"/>
                <a:cs typeface="+mn-lt"/>
              </a:rPr>
              <a:t> — Kod lub pliki są pobierane bez sprawdzania ich integralności. </a:t>
            </a:r>
            <a:endParaRPr lang="pl-PL"/>
          </a:p>
          <a:p>
            <a:pPr>
              <a:buFont typeface="Arial"/>
              <a:buChar char="•"/>
            </a:pPr>
            <a:r>
              <a:rPr lang="pl-PL" b="1">
                <a:ea typeface="+mn-lt"/>
                <a:cs typeface="+mn-lt"/>
              </a:rPr>
              <a:t>CWE-502 (Deserialization of Untrusted Data)</a:t>
            </a:r>
            <a:r>
              <a:rPr lang="pl-PL">
                <a:ea typeface="+mn-lt"/>
                <a:cs typeface="+mn-lt"/>
              </a:rPr>
              <a:t> — Aplikacja przetwarza niezweryfikowane dane jako obiekty, co może prowadzić do wykonania kodu. </a:t>
            </a:r>
            <a:endParaRPr lang="pl-PL"/>
          </a:p>
          <a:p>
            <a:pPr>
              <a:buFont typeface="Arial"/>
              <a:buChar char="•"/>
            </a:pPr>
            <a:r>
              <a:rPr lang="pl-PL" b="1">
                <a:ea typeface="+mn-lt"/>
                <a:cs typeface="+mn-lt"/>
              </a:rPr>
              <a:t>CWE-829 (Untrusted Control Sphere Inclusion)</a:t>
            </a:r>
            <a:r>
              <a:rPr lang="pl-PL">
                <a:ea typeface="+mn-lt"/>
                <a:cs typeface="+mn-lt"/>
              </a:rPr>
              <a:t> — Aplikacja ładuje kod lub funkcje z niezaufanego źródła. </a:t>
            </a:r>
            <a:endParaRPr lang="pl-PL"/>
          </a:p>
          <a:p>
            <a:pPr>
              <a:buFont typeface="Arial"/>
              <a:buChar char="•"/>
            </a:pPr>
            <a:r>
              <a:rPr lang="pl-PL" b="1">
                <a:ea typeface="+mn-lt"/>
                <a:cs typeface="+mn-lt"/>
              </a:rPr>
              <a:t>CWE-830 (Untrusted Web Source Inclusion)</a:t>
            </a:r>
            <a:r>
              <a:rPr lang="pl-PL">
                <a:ea typeface="+mn-lt"/>
                <a:cs typeface="+mn-lt"/>
              </a:rPr>
              <a:t> — Zewnętrzne zasoby webowe są dołączane bez weryfikacji.</a:t>
            </a:r>
            <a:endParaRPr lang="pl-PL"/>
          </a:p>
          <a:p>
            <a:pPr marL="0" indent="0">
              <a:buNone/>
            </a:pPr>
            <a:endParaRPr lang="pl-PL"/>
          </a:p>
        </p:txBody>
      </p:sp>
    </p:spTree>
    <p:extLst>
      <p:ext uri="{BB962C8B-B14F-4D97-AF65-F5344CB8AC3E}">
        <p14:creationId xmlns:p14="http://schemas.microsoft.com/office/powerpoint/2010/main" val="12521987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381F9-4CCB-8722-4C3C-1B1AD3597E49}"/>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1539D2C1-738B-72F6-9154-0860BFA34384}"/>
              </a:ext>
            </a:extLst>
          </p:cNvPr>
          <p:cNvSpPr>
            <a:spLocks noGrp="1"/>
          </p:cNvSpPr>
          <p:nvPr>
            <p:ph type="title"/>
          </p:nvPr>
        </p:nvSpPr>
        <p:spPr>
          <a:xfrm>
            <a:off x="838200" y="365125"/>
            <a:ext cx="10515600" cy="676452"/>
          </a:xfrm>
        </p:spPr>
        <p:txBody>
          <a:bodyPr/>
          <a:lstStyle/>
          <a:p>
            <a:r>
              <a:rPr lang="pl-PL" sz="2800">
                <a:latin typeface="Aptos"/>
              </a:rPr>
              <a:t>Software or Data Integrity Failures</a:t>
            </a:r>
          </a:p>
        </p:txBody>
      </p:sp>
      <p:sp>
        <p:nvSpPr>
          <p:cNvPr id="3" name="Symbol zastępczy zawartości 2">
            <a:extLst>
              <a:ext uri="{FF2B5EF4-FFF2-40B4-BE49-F238E27FC236}">
                <a16:creationId xmlns:a16="http://schemas.microsoft.com/office/drawing/2014/main" id="{8ACAA1FA-00CB-B71C-6F39-F6D8FFE0E6B8}"/>
              </a:ext>
            </a:extLst>
          </p:cNvPr>
          <p:cNvSpPr>
            <a:spLocks noGrp="1"/>
          </p:cNvSpPr>
          <p:nvPr>
            <p:ph idx="1"/>
          </p:nvPr>
        </p:nvSpPr>
        <p:spPr>
          <a:xfrm>
            <a:off x="838200" y="1223551"/>
            <a:ext cx="10515600" cy="4953412"/>
          </a:xfrm>
        </p:spPr>
        <p:txBody>
          <a:bodyPr vert="horz" lIns="91440" tIns="45720" rIns="91440" bIns="45720" rtlCol="0" anchor="t">
            <a:normAutofit/>
          </a:bodyPr>
          <a:lstStyle/>
          <a:p>
            <a:pPr marL="0" indent="0">
              <a:buNone/>
            </a:pPr>
            <a:endParaRPr lang="pl-PL"/>
          </a:p>
          <a:p>
            <a:pPr marL="0" indent="0">
              <a:buNone/>
            </a:pPr>
            <a:endParaRPr lang="pl-PL"/>
          </a:p>
        </p:txBody>
      </p:sp>
      <p:sp>
        <p:nvSpPr>
          <p:cNvPr id="4" name="pole tekstowe 3">
            <a:extLst>
              <a:ext uri="{FF2B5EF4-FFF2-40B4-BE49-F238E27FC236}">
                <a16:creationId xmlns:a16="http://schemas.microsoft.com/office/drawing/2014/main" id="{8AB9B6AA-8F82-5525-C0C3-A87FC01B78C5}"/>
              </a:ext>
            </a:extLst>
          </p:cNvPr>
          <p:cNvSpPr txBox="1"/>
          <p:nvPr/>
        </p:nvSpPr>
        <p:spPr>
          <a:xfrm>
            <a:off x="840828" y="1037897"/>
            <a:ext cx="10510344" cy="44935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200">
                <a:ea typeface="+mn-lt"/>
                <a:cs typeface="+mn-lt"/>
              </a:rPr>
              <a:t>Weryfikacja źródła i integralności danych za </a:t>
            </a:r>
            <a:r>
              <a:rPr lang="en-US" sz="2200" err="1">
                <a:ea typeface="+mn-lt"/>
                <a:cs typeface="+mn-lt"/>
              </a:rPr>
              <a:t>pomocą</a:t>
            </a:r>
            <a:r>
              <a:rPr lang="en-US" sz="2200">
                <a:ea typeface="+mn-lt"/>
                <a:cs typeface="+mn-lt"/>
              </a:rPr>
              <a:t> </a:t>
            </a:r>
            <a:r>
              <a:rPr lang="en-US" sz="2200" err="1">
                <a:ea typeface="+mn-lt"/>
                <a:cs typeface="+mn-lt"/>
              </a:rPr>
              <a:t>podpisów</a:t>
            </a:r>
            <a:r>
              <a:rPr lang="en-US" sz="2200">
                <a:ea typeface="+mn-lt"/>
                <a:cs typeface="+mn-lt"/>
              </a:rPr>
              <a:t> </a:t>
            </a:r>
            <a:r>
              <a:rPr lang="en-US" sz="2200" err="1">
                <a:ea typeface="+mn-lt"/>
                <a:cs typeface="+mn-lt"/>
              </a:rPr>
              <a:t>cyfrowych</a:t>
            </a:r>
            <a:br>
              <a:rPr lang="en-US" sz="2200">
                <a:ea typeface="+mn-lt"/>
                <a:cs typeface="+mn-lt"/>
              </a:rPr>
            </a:br>
            <a:r>
              <a:rPr lang="en-US" sz="2200">
                <a:ea typeface="+mn-lt"/>
                <a:cs typeface="+mn-lt"/>
              </a:rPr>
              <a:t>Dane </a:t>
            </a:r>
            <a:r>
              <a:rPr lang="en-US" sz="2200" err="1">
                <a:ea typeface="+mn-lt"/>
                <a:cs typeface="+mn-lt"/>
              </a:rPr>
              <a:t>lub</a:t>
            </a:r>
            <a:r>
              <a:rPr lang="en-US" sz="2200">
                <a:ea typeface="+mn-lt"/>
                <a:cs typeface="+mn-lt"/>
              </a:rPr>
              <a:t> </a:t>
            </a:r>
            <a:r>
              <a:rPr lang="en-US" sz="2200" err="1">
                <a:ea typeface="+mn-lt"/>
                <a:cs typeface="+mn-lt"/>
              </a:rPr>
              <a:t>oprogramowanie</a:t>
            </a:r>
            <a:r>
              <a:rPr lang="en-US" sz="2200">
                <a:ea typeface="+mn-lt"/>
                <a:cs typeface="+mn-lt"/>
              </a:rPr>
              <a:t> </a:t>
            </a:r>
            <a:r>
              <a:rPr lang="en-US" sz="2200" err="1">
                <a:ea typeface="+mn-lt"/>
                <a:cs typeface="+mn-lt"/>
              </a:rPr>
              <a:t>powinny</a:t>
            </a:r>
            <a:r>
              <a:rPr lang="en-US" sz="2200">
                <a:ea typeface="+mn-lt"/>
                <a:cs typeface="+mn-lt"/>
              </a:rPr>
              <a:t> </a:t>
            </a:r>
            <a:r>
              <a:rPr lang="en-US" sz="2200" err="1">
                <a:ea typeface="+mn-lt"/>
                <a:cs typeface="+mn-lt"/>
              </a:rPr>
              <a:t>być</a:t>
            </a:r>
            <a:r>
              <a:rPr lang="en-US" sz="2200">
                <a:ea typeface="+mn-lt"/>
                <a:cs typeface="+mn-lt"/>
              </a:rPr>
              <a:t> </a:t>
            </a:r>
            <a:r>
              <a:rPr lang="en-US" sz="2200" err="1">
                <a:ea typeface="+mn-lt"/>
                <a:cs typeface="+mn-lt"/>
              </a:rPr>
              <a:t>podpisane</a:t>
            </a:r>
            <a:r>
              <a:rPr lang="en-US" sz="2200">
                <a:ea typeface="+mn-lt"/>
                <a:cs typeface="+mn-lt"/>
              </a:rPr>
              <a:t> </a:t>
            </a:r>
            <a:r>
              <a:rPr lang="en-US" sz="2200" err="1">
                <a:ea typeface="+mn-lt"/>
                <a:cs typeface="+mn-lt"/>
              </a:rPr>
              <a:t>cyfrowo</a:t>
            </a:r>
            <a:r>
              <a:rPr lang="en-US" sz="2200">
                <a:ea typeface="+mn-lt"/>
                <a:cs typeface="+mn-lt"/>
              </a:rPr>
              <a:t>, aby </a:t>
            </a:r>
            <a:r>
              <a:rPr lang="en-US" sz="2200" err="1">
                <a:ea typeface="+mn-lt"/>
                <a:cs typeface="+mn-lt"/>
              </a:rPr>
              <a:t>upewnić</a:t>
            </a:r>
            <a:r>
              <a:rPr lang="en-US" sz="2200">
                <a:ea typeface="+mn-lt"/>
                <a:cs typeface="+mn-lt"/>
              </a:rPr>
              <a:t> </a:t>
            </a:r>
            <a:r>
              <a:rPr lang="en-US" sz="2200" err="1">
                <a:ea typeface="+mn-lt"/>
                <a:cs typeface="+mn-lt"/>
              </a:rPr>
              <a:t>się</a:t>
            </a:r>
            <a:r>
              <a:rPr lang="en-US" sz="2200">
                <a:ea typeface="+mn-lt"/>
                <a:cs typeface="+mn-lt"/>
              </a:rPr>
              <a:t>, </a:t>
            </a:r>
            <a:r>
              <a:rPr lang="en-US" sz="2200" err="1">
                <a:ea typeface="+mn-lt"/>
                <a:cs typeface="+mn-lt"/>
              </a:rPr>
              <a:t>że</a:t>
            </a:r>
            <a:r>
              <a:rPr lang="en-US" sz="2200">
                <a:ea typeface="+mn-lt"/>
                <a:cs typeface="+mn-lt"/>
              </a:rPr>
              <a:t> </a:t>
            </a:r>
            <a:r>
              <a:rPr lang="en-US" sz="2200" err="1">
                <a:ea typeface="+mn-lt"/>
                <a:cs typeface="+mn-lt"/>
              </a:rPr>
              <a:t>pochodzą</a:t>
            </a:r>
            <a:r>
              <a:rPr lang="en-US" sz="2200">
                <a:ea typeface="+mn-lt"/>
                <a:cs typeface="+mn-lt"/>
              </a:rPr>
              <a:t> z </a:t>
            </a:r>
            <a:r>
              <a:rPr lang="en-US" sz="2200" err="1">
                <a:ea typeface="+mn-lt"/>
                <a:cs typeface="+mn-lt"/>
              </a:rPr>
              <a:t>oczekiwanego</a:t>
            </a:r>
            <a:r>
              <a:rPr lang="en-US" sz="2200">
                <a:ea typeface="+mn-lt"/>
                <a:cs typeface="+mn-lt"/>
              </a:rPr>
              <a:t> </a:t>
            </a:r>
            <a:r>
              <a:rPr lang="en-US" sz="2200" err="1">
                <a:ea typeface="+mn-lt"/>
                <a:cs typeface="+mn-lt"/>
              </a:rPr>
              <a:t>źródła</a:t>
            </a:r>
            <a:r>
              <a:rPr lang="en-US" sz="2200">
                <a:ea typeface="+mn-lt"/>
                <a:cs typeface="+mn-lt"/>
              </a:rPr>
              <a:t> </a:t>
            </a:r>
            <a:r>
              <a:rPr lang="en-US" sz="2200" err="1">
                <a:ea typeface="+mn-lt"/>
                <a:cs typeface="+mn-lt"/>
              </a:rPr>
              <a:t>i</a:t>
            </a:r>
            <a:r>
              <a:rPr lang="en-US" sz="2200">
                <a:ea typeface="+mn-lt"/>
                <a:cs typeface="+mn-lt"/>
              </a:rPr>
              <a:t> </a:t>
            </a:r>
            <a:r>
              <a:rPr lang="en-US" sz="2200" err="1">
                <a:ea typeface="+mn-lt"/>
                <a:cs typeface="+mn-lt"/>
              </a:rPr>
              <a:t>nie</a:t>
            </a:r>
            <a:r>
              <a:rPr lang="en-US" sz="2200">
                <a:ea typeface="+mn-lt"/>
                <a:cs typeface="+mn-lt"/>
              </a:rPr>
              <a:t> </a:t>
            </a:r>
            <a:r>
              <a:rPr lang="en-US" sz="2200" err="1">
                <a:ea typeface="+mn-lt"/>
                <a:cs typeface="+mn-lt"/>
              </a:rPr>
              <a:t>zostały</a:t>
            </a:r>
            <a:r>
              <a:rPr lang="en-US" sz="2200">
                <a:ea typeface="+mn-lt"/>
                <a:cs typeface="+mn-lt"/>
              </a:rPr>
              <a:t> </a:t>
            </a:r>
            <a:r>
              <a:rPr lang="en-US" sz="2200" err="1">
                <a:ea typeface="+mn-lt"/>
                <a:cs typeface="+mn-lt"/>
              </a:rPr>
              <a:t>zmodyfikowane</a:t>
            </a:r>
            <a:r>
              <a:rPr lang="en-US" sz="2200">
                <a:ea typeface="+mn-lt"/>
                <a:cs typeface="+mn-lt"/>
              </a:rPr>
              <a:t>. </a:t>
            </a:r>
            <a:r>
              <a:rPr lang="en-US" sz="2200" err="1">
                <a:ea typeface="+mn-lt"/>
                <a:cs typeface="+mn-lt"/>
              </a:rPr>
              <a:t>Takie</a:t>
            </a:r>
            <a:r>
              <a:rPr lang="en-US" sz="2200">
                <a:ea typeface="+mn-lt"/>
                <a:cs typeface="+mn-lt"/>
              </a:rPr>
              <a:t> </a:t>
            </a:r>
            <a:r>
              <a:rPr lang="en-US" sz="2200" err="1">
                <a:ea typeface="+mn-lt"/>
                <a:cs typeface="+mn-lt"/>
              </a:rPr>
              <a:t>podejście</a:t>
            </a:r>
            <a:r>
              <a:rPr lang="en-US" sz="2200">
                <a:ea typeface="+mn-lt"/>
                <a:cs typeface="+mn-lt"/>
              </a:rPr>
              <a:t> </a:t>
            </a:r>
            <a:r>
              <a:rPr lang="en-US" sz="2200" err="1">
                <a:ea typeface="+mn-lt"/>
                <a:cs typeface="+mn-lt"/>
              </a:rPr>
              <a:t>chroni</a:t>
            </a:r>
            <a:r>
              <a:rPr lang="en-US" sz="2200">
                <a:ea typeface="+mn-lt"/>
                <a:cs typeface="+mn-lt"/>
              </a:rPr>
              <a:t> </a:t>
            </a:r>
            <a:r>
              <a:rPr lang="en-US" sz="2200" err="1">
                <a:ea typeface="+mn-lt"/>
                <a:cs typeface="+mn-lt"/>
              </a:rPr>
              <a:t>przed</a:t>
            </a:r>
            <a:r>
              <a:rPr lang="en-US" sz="2200">
                <a:ea typeface="+mn-lt"/>
                <a:cs typeface="+mn-lt"/>
              </a:rPr>
              <a:t> </a:t>
            </a:r>
            <a:r>
              <a:rPr lang="en-US" sz="2200" err="1">
                <a:ea typeface="+mn-lt"/>
                <a:cs typeface="+mn-lt"/>
              </a:rPr>
              <a:t>wprowadzeniem</a:t>
            </a:r>
            <a:r>
              <a:rPr lang="en-US" sz="2200">
                <a:ea typeface="+mn-lt"/>
                <a:cs typeface="+mn-lt"/>
              </a:rPr>
              <a:t> </a:t>
            </a:r>
            <a:r>
              <a:rPr lang="en-US" sz="2200" err="1">
                <a:ea typeface="+mn-lt"/>
                <a:cs typeface="+mn-lt"/>
              </a:rPr>
              <a:t>złośliwego</a:t>
            </a:r>
            <a:r>
              <a:rPr lang="en-US" sz="2200">
                <a:ea typeface="+mn-lt"/>
                <a:cs typeface="+mn-lt"/>
              </a:rPr>
              <a:t> </a:t>
            </a:r>
            <a:r>
              <a:rPr lang="en-US" sz="2200" err="1">
                <a:ea typeface="+mn-lt"/>
                <a:cs typeface="+mn-lt"/>
              </a:rPr>
              <a:t>kodu</a:t>
            </a:r>
            <a:r>
              <a:rPr lang="en-US" sz="2200">
                <a:ea typeface="+mn-lt"/>
                <a:cs typeface="+mn-lt"/>
              </a:rPr>
              <a:t> </a:t>
            </a:r>
            <a:r>
              <a:rPr lang="en-US" sz="2200" err="1">
                <a:ea typeface="+mn-lt"/>
                <a:cs typeface="+mn-lt"/>
              </a:rPr>
              <a:t>lub</a:t>
            </a:r>
            <a:r>
              <a:rPr lang="en-US" sz="2200">
                <a:ea typeface="+mn-lt"/>
                <a:cs typeface="+mn-lt"/>
              </a:rPr>
              <a:t> </a:t>
            </a:r>
            <a:r>
              <a:rPr lang="en-US" sz="2200" err="1">
                <a:ea typeface="+mn-lt"/>
                <a:cs typeface="+mn-lt"/>
              </a:rPr>
              <a:t>manipulacją</a:t>
            </a:r>
            <a:r>
              <a:rPr lang="en-US" sz="2200">
                <a:ea typeface="+mn-lt"/>
                <a:cs typeface="+mn-lt"/>
              </a:rPr>
              <a:t> </a:t>
            </a:r>
            <a:r>
              <a:rPr lang="en-US" sz="2200" err="1">
                <a:ea typeface="+mn-lt"/>
                <a:cs typeface="+mn-lt"/>
              </a:rPr>
              <a:t>podczas</a:t>
            </a:r>
            <a:r>
              <a:rPr lang="en-US" sz="2200">
                <a:ea typeface="+mn-lt"/>
                <a:cs typeface="+mn-lt"/>
              </a:rPr>
              <a:t> </a:t>
            </a:r>
            <a:r>
              <a:rPr lang="en-US" sz="2200" err="1">
                <a:ea typeface="+mn-lt"/>
                <a:cs typeface="+mn-lt"/>
              </a:rPr>
              <a:t>transmisji</a:t>
            </a:r>
            <a:r>
              <a:rPr lang="en-US" sz="2200">
                <a:ea typeface="+mn-lt"/>
                <a:cs typeface="+mn-lt"/>
              </a:rPr>
              <a:t> </a:t>
            </a:r>
            <a:r>
              <a:rPr lang="en-US" sz="2200" err="1">
                <a:ea typeface="+mn-lt"/>
                <a:cs typeface="+mn-lt"/>
              </a:rPr>
              <a:t>lub</a:t>
            </a:r>
            <a:r>
              <a:rPr lang="en-US" sz="2200">
                <a:ea typeface="+mn-lt"/>
                <a:cs typeface="+mn-lt"/>
              </a:rPr>
              <a:t> </a:t>
            </a:r>
            <a:r>
              <a:rPr lang="en-US" sz="2200" err="1">
                <a:ea typeface="+mn-lt"/>
                <a:cs typeface="+mn-lt"/>
              </a:rPr>
              <a:t>dystrybucji</a:t>
            </a:r>
            <a:r>
              <a:rPr lang="en-US" sz="2200">
                <a:ea typeface="+mn-lt"/>
                <a:cs typeface="+mn-lt"/>
              </a:rPr>
              <a:t>.</a:t>
            </a:r>
            <a:endParaRPr lang="pl-PL" sz="2200">
              <a:ea typeface="+mn-lt"/>
              <a:cs typeface="+mn-lt"/>
            </a:endParaRPr>
          </a:p>
          <a:p>
            <a:pPr marL="285750" indent="-285750">
              <a:buFont typeface="Arial"/>
              <a:buChar char="•"/>
            </a:pPr>
            <a:r>
              <a:rPr lang="en-US" sz="2200" err="1">
                <a:ea typeface="+mn-lt"/>
                <a:cs typeface="+mn-lt"/>
              </a:rPr>
              <a:t>Korzystanie</a:t>
            </a:r>
            <a:r>
              <a:rPr lang="en-US" sz="2200">
                <a:ea typeface="+mn-lt"/>
                <a:cs typeface="+mn-lt"/>
              </a:rPr>
              <a:t> </a:t>
            </a:r>
            <a:r>
              <a:rPr lang="en-US" sz="2200" err="1">
                <a:ea typeface="+mn-lt"/>
                <a:cs typeface="+mn-lt"/>
              </a:rPr>
              <a:t>tylko</a:t>
            </a:r>
            <a:r>
              <a:rPr lang="en-US" sz="2200">
                <a:ea typeface="+mn-lt"/>
                <a:cs typeface="+mn-lt"/>
              </a:rPr>
              <a:t> z </a:t>
            </a:r>
            <a:r>
              <a:rPr lang="en-US" sz="2200" err="1">
                <a:ea typeface="+mn-lt"/>
                <a:cs typeface="+mn-lt"/>
              </a:rPr>
              <a:t>zaufanych</a:t>
            </a:r>
            <a:r>
              <a:rPr lang="en-US" sz="2200">
                <a:ea typeface="+mn-lt"/>
                <a:cs typeface="+mn-lt"/>
              </a:rPr>
              <a:t> </a:t>
            </a:r>
            <a:r>
              <a:rPr lang="en-US" sz="2200" err="1">
                <a:ea typeface="+mn-lt"/>
                <a:cs typeface="+mn-lt"/>
              </a:rPr>
              <a:t>repozytoriów</a:t>
            </a:r>
            <a:r>
              <a:rPr lang="en-US" sz="2200">
                <a:ea typeface="+mn-lt"/>
                <a:cs typeface="+mn-lt"/>
              </a:rPr>
              <a:t> </a:t>
            </a:r>
            <a:r>
              <a:rPr lang="en-US" sz="2200" err="1">
                <a:ea typeface="+mn-lt"/>
                <a:cs typeface="+mn-lt"/>
              </a:rPr>
              <a:t>bibliotek</a:t>
            </a:r>
            <a:r>
              <a:rPr lang="en-US" sz="2200">
                <a:ea typeface="+mn-lt"/>
                <a:cs typeface="+mn-lt"/>
              </a:rPr>
              <a:t> </a:t>
            </a:r>
            <a:r>
              <a:rPr lang="en-US" sz="2200" err="1">
                <a:ea typeface="+mn-lt"/>
                <a:cs typeface="+mn-lt"/>
              </a:rPr>
              <a:t>i</a:t>
            </a:r>
            <a:r>
              <a:rPr lang="en-US" sz="2200">
                <a:ea typeface="+mn-lt"/>
                <a:cs typeface="+mn-lt"/>
              </a:rPr>
              <a:t> </a:t>
            </a:r>
            <a:r>
              <a:rPr lang="en-US" sz="2200" err="1">
                <a:ea typeface="+mn-lt"/>
                <a:cs typeface="+mn-lt"/>
              </a:rPr>
              <a:t>zależności</a:t>
            </a:r>
            <a:br>
              <a:rPr lang="en-US" sz="2200">
                <a:ea typeface="+mn-lt"/>
                <a:cs typeface="+mn-lt"/>
              </a:rPr>
            </a:br>
            <a:r>
              <a:rPr lang="en-US" sz="2200" err="1">
                <a:ea typeface="+mn-lt"/>
                <a:cs typeface="+mn-lt"/>
              </a:rPr>
              <a:t>Wszystkie</a:t>
            </a:r>
            <a:r>
              <a:rPr lang="en-US" sz="2200">
                <a:ea typeface="+mn-lt"/>
                <a:cs typeface="+mn-lt"/>
              </a:rPr>
              <a:t> </a:t>
            </a:r>
            <a:r>
              <a:rPr lang="en-US" sz="2200" err="1">
                <a:ea typeface="+mn-lt"/>
                <a:cs typeface="+mn-lt"/>
              </a:rPr>
              <a:t>pakiety</a:t>
            </a:r>
            <a:r>
              <a:rPr lang="en-US" sz="2200">
                <a:ea typeface="+mn-lt"/>
                <a:cs typeface="+mn-lt"/>
              </a:rPr>
              <a:t>, np. z </a:t>
            </a:r>
            <a:r>
              <a:rPr lang="en-US" sz="2200" err="1">
                <a:ea typeface="+mn-lt"/>
                <a:cs typeface="+mn-lt"/>
              </a:rPr>
              <a:t>npm</a:t>
            </a:r>
            <a:r>
              <a:rPr lang="en-US" sz="2200">
                <a:ea typeface="+mn-lt"/>
                <a:cs typeface="+mn-lt"/>
              </a:rPr>
              <a:t> </a:t>
            </a:r>
            <a:r>
              <a:rPr lang="en-US" sz="2200" err="1">
                <a:ea typeface="+mn-lt"/>
                <a:cs typeface="+mn-lt"/>
              </a:rPr>
              <a:t>czy</a:t>
            </a:r>
            <a:r>
              <a:rPr lang="en-US" sz="2200">
                <a:ea typeface="+mn-lt"/>
                <a:cs typeface="+mn-lt"/>
              </a:rPr>
              <a:t> Maven, </a:t>
            </a:r>
            <a:r>
              <a:rPr lang="en-US" sz="2200" err="1">
                <a:ea typeface="+mn-lt"/>
                <a:cs typeface="+mn-lt"/>
              </a:rPr>
              <a:t>powinny</a:t>
            </a:r>
            <a:r>
              <a:rPr lang="en-US" sz="2200">
                <a:ea typeface="+mn-lt"/>
                <a:cs typeface="+mn-lt"/>
              </a:rPr>
              <a:t> </a:t>
            </a:r>
            <a:r>
              <a:rPr lang="en-US" sz="2200" err="1">
                <a:ea typeface="+mn-lt"/>
                <a:cs typeface="+mn-lt"/>
              </a:rPr>
              <a:t>pochodzić</a:t>
            </a:r>
            <a:r>
              <a:rPr lang="en-US" sz="2200">
                <a:ea typeface="+mn-lt"/>
                <a:cs typeface="+mn-lt"/>
              </a:rPr>
              <a:t> z </a:t>
            </a:r>
            <a:r>
              <a:rPr lang="en-US" sz="2200" err="1">
                <a:ea typeface="+mn-lt"/>
                <a:cs typeface="+mn-lt"/>
              </a:rPr>
              <a:t>wiarygodnych</a:t>
            </a:r>
            <a:r>
              <a:rPr lang="en-US" sz="2200">
                <a:ea typeface="+mn-lt"/>
                <a:cs typeface="+mn-lt"/>
              </a:rPr>
              <a:t> </a:t>
            </a:r>
            <a:r>
              <a:rPr lang="en-US" sz="2200" err="1">
                <a:ea typeface="+mn-lt"/>
                <a:cs typeface="+mn-lt"/>
              </a:rPr>
              <a:t>źródeł</a:t>
            </a:r>
            <a:r>
              <a:rPr lang="en-US" sz="2200">
                <a:ea typeface="+mn-lt"/>
                <a:cs typeface="+mn-lt"/>
              </a:rPr>
              <a:t>. </a:t>
            </a:r>
            <a:r>
              <a:rPr lang="en-US" sz="2200" err="1">
                <a:ea typeface="+mn-lt"/>
                <a:cs typeface="+mn-lt"/>
              </a:rPr>
              <a:t>Dla</a:t>
            </a:r>
            <a:r>
              <a:rPr lang="en-US" sz="2200">
                <a:ea typeface="+mn-lt"/>
                <a:cs typeface="+mn-lt"/>
              </a:rPr>
              <a:t> </a:t>
            </a:r>
            <a:r>
              <a:rPr lang="en-US" sz="2200" err="1">
                <a:ea typeface="+mn-lt"/>
                <a:cs typeface="+mn-lt"/>
              </a:rPr>
              <a:t>środowisk</a:t>
            </a:r>
            <a:r>
              <a:rPr lang="en-US" sz="2200">
                <a:ea typeface="+mn-lt"/>
                <a:cs typeface="+mn-lt"/>
              </a:rPr>
              <a:t> </a:t>
            </a:r>
            <a:r>
              <a:rPr lang="en-US" sz="2200" err="1">
                <a:ea typeface="+mn-lt"/>
                <a:cs typeface="+mn-lt"/>
              </a:rPr>
              <a:t>wysokiego</a:t>
            </a:r>
            <a:r>
              <a:rPr lang="en-US" sz="2200">
                <a:ea typeface="+mn-lt"/>
                <a:cs typeface="+mn-lt"/>
              </a:rPr>
              <a:t> </a:t>
            </a:r>
            <a:r>
              <a:rPr lang="en-US" sz="2200" err="1">
                <a:ea typeface="+mn-lt"/>
                <a:cs typeface="+mn-lt"/>
              </a:rPr>
              <a:t>ryzyka</a:t>
            </a:r>
            <a:r>
              <a:rPr lang="en-US" sz="2200">
                <a:ea typeface="+mn-lt"/>
                <a:cs typeface="+mn-lt"/>
              </a:rPr>
              <a:t> </a:t>
            </a:r>
            <a:r>
              <a:rPr lang="en-US" sz="2200" err="1">
                <a:ea typeface="+mn-lt"/>
                <a:cs typeface="+mn-lt"/>
              </a:rPr>
              <a:t>warto</a:t>
            </a:r>
            <a:r>
              <a:rPr lang="en-US" sz="2200">
                <a:ea typeface="+mn-lt"/>
                <a:cs typeface="+mn-lt"/>
              </a:rPr>
              <a:t> </a:t>
            </a:r>
            <a:r>
              <a:rPr lang="en-US" sz="2200" err="1">
                <a:ea typeface="+mn-lt"/>
                <a:cs typeface="+mn-lt"/>
              </a:rPr>
              <a:t>rozważyć</a:t>
            </a:r>
            <a:r>
              <a:rPr lang="en-US" sz="2200">
                <a:ea typeface="+mn-lt"/>
                <a:cs typeface="+mn-lt"/>
              </a:rPr>
              <a:t> </a:t>
            </a:r>
            <a:r>
              <a:rPr lang="en-US" sz="2200" err="1">
                <a:ea typeface="+mn-lt"/>
                <a:cs typeface="+mn-lt"/>
              </a:rPr>
              <a:t>wewnętrzne</a:t>
            </a:r>
            <a:r>
              <a:rPr lang="en-US" sz="2200">
                <a:ea typeface="+mn-lt"/>
                <a:cs typeface="+mn-lt"/>
              </a:rPr>
              <a:t> </a:t>
            </a:r>
            <a:r>
              <a:rPr lang="en-US" sz="2200" err="1">
                <a:ea typeface="+mn-lt"/>
                <a:cs typeface="+mn-lt"/>
              </a:rPr>
              <a:t>repozytorium</a:t>
            </a:r>
            <a:r>
              <a:rPr lang="en-US" sz="2200">
                <a:ea typeface="+mn-lt"/>
                <a:cs typeface="+mn-lt"/>
              </a:rPr>
              <a:t> „known-good”, w </a:t>
            </a:r>
            <a:r>
              <a:rPr lang="en-US" sz="2200" err="1">
                <a:ea typeface="+mn-lt"/>
                <a:cs typeface="+mn-lt"/>
              </a:rPr>
              <a:t>którym</a:t>
            </a:r>
            <a:r>
              <a:rPr lang="en-US" sz="2200">
                <a:ea typeface="+mn-lt"/>
                <a:cs typeface="+mn-lt"/>
              </a:rPr>
              <a:t> </a:t>
            </a:r>
            <a:r>
              <a:rPr lang="en-US" sz="2200" err="1">
                <a:ea typeface="+mn-lt"/>
                <a:cs typeface="+mn-lt"/>
              </a:rPr>
              <a:t>pakiety</a:t>
            </a:r>
            <a:r>
              <a:rPr lang="en-US" sz="2200">
                <a:ea typeface="+mn-lt"/>
                <a:cs typeface="+mn-lt"/>
              </a:rPr>
              <a:t> </a:t>
            </a:r>
            <a:r>
              <a:rPr lang="en-US" sz="2200" err="1">
                <a:ea typeface="+mn-lt"/>
                <a:cs typeface="+mn-lt"/>
              </a:rPr>
              <a:t>są</a:t>
            </a:r>
            <a:r>
              <a:rPr lang="en-US" sz="2200">
                <a:ea typeface="+mn-lt"/>
                <a:cs typeface="+mn-lt"/>
              </a:rPr>
              <a:t> </a:t>
            </a:r>
            <a:r>
              <a:rPr lang="en-US" sz="2200" err="1">
                <a:ea typeface="+mn-lt"/>
                <a:cs typeface="+mn-lt"/>
              </a:rPr>
              <a:t>zweryfikowane</a:t>
            </a:r>
            <a:r>
              <a:rPr lang="en-US" sz="2200">
                <a:ea typeface="+mn-lt"/>
                <a:cs typeface="+mn-lt"/>
              </a:rPr>
              <a:t> </a:t>
            </a:r>
            <a:r>
              <a:rPr lang="en-US" sz="2200" err="1">
                <a:ea typeface="+mn-lt"/>
                <a:cs typeface="+mn-lt"/>
              </a:rPr>
              <a:t>przed</a:t>
            </a:r>
            <a:r>
              <a:rPr lang="en-US" sz="2200">
                <a:ea typeface="+mn-lt"/>
                <a:cs typeface="+mn-lt"/>
              </a:rPr>
              <a:t> </a:t>
            </a:r>
            <a:r>
              <a:rPr lang="en-US" sz="2200" err="1">
                <a:ea typeface="+mn-lt"/>
                <a:cs typeface="+mn-lt"/>
              </a:rPr>
              <a:t>użyciem</a:t>
            </a:r>
            <a:r>
              <a:rPr lang="en-US" sz="2200">
                <a:ea typeface="+mn-lt"/>
                <a:cs typeface="+mn-lt"/>
              </a:rPr>
              <a:t>.</a:t>
            </a:r>
          </a:p>
          <a:p>
            <a:pPr marL="285750" indent="-285750">
              <a:buFont typeface="Arial"/>
              <a:buChar char="•"/>
            </a:pPr>
            <a:r>
              <a:rPr lang="en-US" sz="2200" err="1">
                <a:ea typeface="+mn-lt"/>
                <a:cs typeface="+mn-lt"/>
              </a:rPr>
              <a:t>Proces</a:t>
            </a:r>
            <a:r>
              <a:rPr lang="en-US" sz="2200">
                <a:ea typeface="+mn-lt"/>
                <a:cs typeface="+mn-lt"/>
              </a:rPr>
              <a:t> </a:t>
            </a:r>
            <a:r>
              <a:rPr lang="en-US" sz="2200" err="1">
                <a:ea typeface="+mn-lt"/>
                <a:cs typeface="+mn-lt"/>
              </a:rPr>
              <a:t>przeglądu</a:t>
            </a:r>
            <a:r>
              <a:rPr lang="en-US" sz="2200">
                <a:ea typeface="+mn-lt"/>
                <a:cs typeface="+mn-lt"/>
              </a:rPr>
              <a:t> </a:t>
            </a:r>
            <a:r>
              <a:rPr lang="en-US" sz="2200" err="1">
                <a:ea typeface="+mn-lt"/>
                <a:cs typeface="+mn-lt"/>
              </a:rPr>
              <a:t>kodu</a:t>
            </a:r>
            <a:r>
              <a:rPr lang="en-US" sz="2200">
                <a:ea typeface="+mn-lt"/>
                <a:cs typeface="+mn-lt"/>
              </a:rPr>
              <a:t> </a:t>
            </a:r>
            <a:r>
              <a:rPr lang="en-US" sz="2200" err="1">
                <a:ea typeface="+mn-lt"/>
                <a:cs typeface="+mn-lt"/>
              </a:rPr>
              <a:t>i</a:t>
            </a:r>
            <a:r>
              <a:rPr lang="en-US" sz="2200">
                <a:ea typeface="+mn-lt"/>
                <a:cs typeface="+mn-lt"/>
              </a:rPr>
              <a:t> </a:t>
            </a:r>
            <a:r>
              <a:rPr lang="en-US" sz="2200" err="1">
                <a:ea typeface="+mn-lt"/>
                <a:cs typeface="+mn-lt"/>
              </a:rPr>
              <a:t>konfiguracji</a:t>
            </a:r>
            <a:br>
              <a:rPr lang="en-US" sz="2200">
                <a:ea typeface="+mn-lt"/>
                <a:cs typeface="+mn-lt"/>
              </a:rPr>
            </a:br>
            <a:r>
              <a:rPr lang="en-US" sz="2200" err="1">
                <a:ea typeface="+mn-lt"/>
                <a:cs typeface="+mn-lt"/>
              </a:rPr>
              <a:t>Każda</a:t>
            </a:r>
            <a:r>
              <a:rPr lang="en-US" sz="2200">
                <a:ea typeface="+mn-lt"/>
                <a:cs typeface="+mn-lt"/>
              </a:rPr>
              <a:t> </a:t>
            </a:r>
            <a:r>
              <a:rPr lang="en-US" sz="2200" err="1">
                <a:ea typeface="+mn-lt"/>
                <a:cs typeface="+mn-lt"/>
              </a:rPr>
              <a:t>zmiana</a:t>
            </a:r>
            <a:r>
              <a:rPr lang="en-US" sz="2200">
                <a:ea typeface="+mn-lt"/>
                <a:cs typeface="+mn-lt"/>
              </a:rPr>
              <a:t> w </a:t>
            </a:r>
            <a:r>
              <a:rPr lang="en-US" sz="2200" err="1">
                <a:ea typeface="+mn-lt"/>
                <a:cs typeface="+mn-lt"/>
              </a:rPr>
              <a:t>kodzie</a:t>
            </a:r>
            <a:r>
              <a:rPr lang="en-US" sz="2200">
                <a:ea typeface="+mn-lt"/>
                <a:cs typeface="+mn-lt"/>
              </a:rPr>
              <a:t> </a:t>
            </a:r>
            <a:r>
              <a:rPr lang="en-US" sz="2200" err="1">
                <a:ea typeface="+mn-lt"/>
                <a:cs typeface="+mn-lt"/>
              </a:rPr>
              <a:t>lub</a:t>
            </a:r>
            <a:r>
              <a:rPr lang="en-US" sz="2200">
                <a:ea typeface="+mn-lt"/>
                <a:cs typeface="+mn-lt"/>
              </a:rPr>
              <a:t> </a:t>
            </a:r>
            <a:r>
              <a:rPr lang="en-US" sz="2200" err="1">
                <a:ea typeface="+mn-lt"/>
                <a:cs typeface="+mn-lt"/>
              </a:rPr>
              <a:t>konfiguracji</a:t>
            </a:r>
            <a:r>
              <a:rPr lang="en-US" sz="2200">
                <a:ea typeface="+mn-lt"/>
                <a:cs typeface="+mn-lt"/>
              </a:rPr>
              <a:t> </a:t>
            </a:r>
            <a:r>
              <a:rPr lang="en-US" sz="2200" err="1">
                <a:ea typeface="+mn-lt"/>
                <a:cs typeface="+mn-lt"/>
              </a:rPr>
              <a:t>powinna</a:t>
            </a:r>
            <a:r>
              <a:rPr lang="en-US" sz="2200">
                <a:ea typeface="+mn-lt"/>
                <a:cs typeface="+mn-lt"/>
              </a:rPr>
              <a:t> </a:t>
            </a:r>
            <a:r>
              <a:rPr lang="en-US" sz="2200" err="1">
                <a:ea typeface="+mn-lt"/>
                <a:cs typeface="+mn-lt"/>
              </a:rPr>
              <a:t>przechodzić</a:t>
            </a:r>
            <a:r>
              <a:rPr lang="en-US" sz="2200">
                <a:ea typeface="+mn-lt"/>
                <a:cs typeface="+mn-lt"/>
              </a:rPr>
              <a:t> </a:t>
            </a:r>
            <a:r>
              <a:rPr lang="en-US" sz="2200" err="1">
                <a:ea typeface="+mn-lt"/>
                <a:cs typeface="+mn-lt"/>
              </a:rPr>
              <a:t>przez</a:t>
            </a:r>
            <a:r>
              <a:rPr lang="en-US" sz="2200">
                <a:ea typeface="+mn-lt"/>
                <a:cs typeface="+mn-lt"/>
              </a:rPr>
              <a:t> </a:t>
            </a:r>
            <a:r>
              <a:rPr lang="en-US" sz="2200" err="1">
                <a:ea typeface="+mn-lt"/>
                <a:cs typeface="+mn-lt"/>
              </a:rPr>
              <a:t>formalny</a:t>
            </a:r>
            <a:r>
              <a:rPr lang="en-US" sz="2200">
                <a:ea typeface="+mn-lt"/>
                <a:cs typeface="+mn-lt"/>
              </a:rPr>
              <a:t> </a:t>
            </a:r>
            <a:r>
              <a:rPr lang="en-US" sz="2200" err="1">
                <a:ea typeface="+mn-lt"/>
                <a:cs typeface="+mn-lt"/>
              </a:rPr>
              <a:t>proces</a:t>
            </a:r>
            <a:r>
              <a:rPr lang="en-US" sz="2200">
                <a:ea typeface="+mn-lt"/>
                <a:cs typeface="+mn-lt"/>
              </a:rPr>
              <a:t> </a:t>
            </a:r>
            <a:r>
              <a:rPr lang="en-US" sz="2200" err="1">
                <a:ea typeface="+mn-lt"/>
                <a:cs typeface="+mn-lt"/>
              </a:rPr>
              <a:t>przeglądu</a:t>
            </a:r>
            <a:r>
              <a:rPr lang="en-US" sz="2200">
                <a:ea typeface="+mn-lt"/>
                <a:cs typeface="+mn-lt"/>
              </a:rPr>
              <a:t>. </a:t>
            </a:r>
            <a:r>
              <a:rPr lang="en-US" sz="2200" err="1">
                <a:ea typeface="+mn-lt"/>
                <a:cs typeface="+mn-lt"/>
              </a:rPr>
              <a:t>Dzięki</a:t>
            </a:r>
            <a:r>
              <a:rPr lang="en-US" sz="2200">
                <a:ea typeface="+mn-lt"/>
                <a:cs typeface="+mn-lt"/>
              </a:rPr>
              <a:t> </a:t>
            </a:r>
            <a:r>
              <a:rPr lang="en-US" sz="2200" err="1">
                <a:ea typeface="+mn-lt"/>
                <a:cs typeface="+mn-lt"/>
              </a:rPr>
              <a:t>temu</a:t>
            </a:r>
            <a:r>
              <a:rPr lang="en-US" sz="2200">
                <a:ea typeface="+mn-lt"/>
                <a:cs typeface="+mn-lt"/>
              </a:rPr>
              <a:t> </a:t>
            </a:r>
            <a:r>
              <a:rPr lang="en-US" sz="2200" err="1">
                <a:ea typeface="+mn-lt"/>
                <a:cs typeface="+mn-lt"/>
              </a:rPr>
              <a:t>zmniejsza</a:t>
            </a:r>
            <a:r>
              <a:rPr lang="en-US" sz="2200">
                <a:ea typeface="+mn-lt"/>
                <a:cs typeface="+mn-lt"/>
              </a:rPr>
              <a:t> </a:t>
            </a:r>
            <a:r>
              <a:rPr lang="en-US" sz="2200" err="1">
                <a:ea typeface="+mn-lt"/>
                <a:cs typeface="+mn-lt"/>
              </a:rPr>
              <a:t>się</a:t>
            </a:r>
            <a:r>
              <a:rPr lang="en-US" sz="2200">
                <a:ea typeface="+mn-lt"/>
                <a:cs typeface="+mn-lt"/>
              </a:rPr>
              <a:t> </a:t>
            </a:r>
            <a:r>
              <a:rPr lang="en-US" sz="2200" err="1">
                <a:ea typeface="+mn-lt"/>
                <a:cs typeface="+mn-lt"/>
              </a:rPr>
              <a:t>ryzyko</a:t>
            </a:r>
            <a:r>
              <a:rPr lang="en-US" sz="2200">
                <a:ea typeface="+mn-lt"/>
                <a:cs typeface="+mn-lt"/>
              </a:rPr>
              <a:t> </a:t>
            </a:r>
            <a:r>
              <a:rPr lang="en-US" sz="2200" err="1">
                <a:ea typeface="+mn-lt"/>
                <a:cs typeface="+mn-lt"/>
              </a:rPr>
              <a:t>przypadkowego</a:t>
            </a:r>
            <a:r>
              <a:rPr lang="en-US" sz="2200">
                <a:ea typeface="+mn-lt"/>
                <a:cs typeface="+mn-lt"/>
              </a:rPr>
              <a:t> </a:t>
            </a:r>
            <a:r>
              <a:rPr lang="en-US" sz="2200" err="1">
                <a:ea typeface="+mn-lt"/>
                <a:cs typeface="+mn-lt"/>
              </a:rPr>
              <a:t>lub</a:t>
            </a:r>
            <a:r>
              <a:rPr lang="en-US" sz="2200">
                <a:ea typeface="+mn-lt"/>
                <a:cs typeface="+mn-lt"/>
              </a:rPr>
              <a:t> </a:t>
            </a:r>
            <a:r>
              <a:rPr lang="en-US" sz="2200" err="1">
                <a:ea typeface="+mn-lt"/>
                <a:cs typeface="+mn-lt"/>
              </a:rPr>
              <a:t>celowego</a:t>
            </a:r>
            <a:r>
              <a:rPr lang="en-US" sz="2200">
                <a:ea typeface="+mn-lt"/>
                <a:cs typeface="+mn-lt"/>
              </a:rPr>
              <a:t> </a:t>
            </a:r>
            <a:r>
              <a:rPr lang="en-US" sz="2200" err="1">
                <a:ea typeface="+mn-lt"/>
                <a:cs typeface="+mn-lt"/>
              </a:rPr>
              <a:t>wprowadzenia</a:t>
            </a:r>
            <a:r>
              <a:rPr lang="en-US" sz="2200">
                <a:ea typeface="+mn-lt"/>
                <a:cs typeface="+mn-lt"/>
              </a:rPr>
              <a:t> </a:t>
            </a:r>
            <a:r>
              <a:rPr lang="en-US" sz="2200" err="1">
                <a:ea typeface="+mn-lt"/>
                <a:cs typeface="+mn-lt"/>
              </a:rPr>
              <a:t>złośliwych</a:t>
            </a:r>
            <a:r>
              <a:rPr lang="en-US" sz="2200">
                <a:ea typeface="+mn-lt"/>
                <a:cs typeface="+mn-lt"/>
              </a:rPr>
              <a:t> </a:t>
            </a:r>
            <a:r>
              <a:rPr lang="en-US" sz="2200" err="1">
                <a:ea typeface="+mn-lt"/>
                <a:cs typeface="+mn-lt"/>
              </a:rPr>
              <a:t>elementów</a:t>
            </a:r>
            <a:r>
              <a:rPr lang="en-US" sz="2200">
                <a:ea typeface="+mn-lt"/>
                <a:cs typeface="+mn-lt"/>
              </a:rPr>
              <a:t> do </a:t>
            </a:r>
            <a:r>
              <a:rPr lang="en-US" sz="2200" err="1">
                <a:ea typeface="+mn-lt"/>
                <a:cs typeface="+mn-lt"/>
              </a:rPr>
              <a:t>pipeline’u</a:t>
            </a:r>
            <a:r>
              <a:rPr lang="en-US" sz="2200">
                <a:ea typeface="+mn-lt"/>
                <a:cs typeface="+mn-lt"/>
              </a:rPr>
              <a:t>.</a:t>
            </a:r>
            <a:endParaRPr lang="pl-PL" sz="2200">
              <a:ea typeface="+mn-lt"/>
              <a:cs typeface="+mn-lt"/>
            </a:endParaRPr>
          </a:p>
        </p:txBody>
      </p:sp>
    </p:spTree>
    <p:extLst>
      <p:ext uri="{BB962C8B-B14F-4D97-AF65-F5344CB8AC3E}">
        <p14:creationId xmlns:p14="http://schemas.microsoft.com/office/powerpoint/2010/main" val="3022070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3ECBC81-941F-3E66-66E4-4F0B8A9AF14C}"/>
              </a:ext>
            </a:extLst>
          </p:cNvPr>
          <p:cNvSpPr>
            <a:spLocks noGrp="1"/>
          </p:cNvSpPr>
          <p:nvPr>
            <p:ph type="ctrTitle"/>
          </p:nvPr>
        </p:nvSpPr>
        <p:spPr>
          <a:xfrm>
            <a:off x="1524000" y="968149"/>
            <a:ext cx="9144000" cy="2387600"/>
          </a:xfrm>
        </p:spPr>
        <p:txBody>
          <a:bodyPr>
            <a:normAutofit/>
          </a:bodyPr>
          <a:lstStyle/>
          <a:p>
            <a:r>
              <a:rPr lang="pl-PL" sz="5400">
                <a:latin typeface="Aptos"/>
              </a:rPr>
              <a:t>Security Logging and Alerting Failures</a:t>
            </a:r>
          </a:p>
        </p:txBody>
      </p:sp>
      <p:sp>
        <p:nvSpPr>
          <p:cNvPr id="3" name="Symbol zastępczy zawartości 2">
            <a:extLst>
              <a:ext uri="{FF2B5EF4-FFF2-40B4-BE49-F238E27FC236}">
                <a16:creationId xmlns:a16="http://schemas.microsoft.com/office/drawing/2014/main" id="{7F345B87-54D1-2A21-8FA6-B54AAC09CD92}"/>
              </a:ext>
            </a:extLst>
          </p:cNvPr>
          <p:cNvSpPr>
            <a:spLocks noGrp="1"/>
          </p:cNvSpPr>
          <p:nvPr>
            <p:ph type="subTitle" idx="1"/>
          </p:nvPr>
        </p:nvSpPr>
        <p:spPr>
          <a:xfrm>
            <a:off x="1524000" y="3447824"/>
            <a:ext cx="9144000" cy="1655762"/>
          </a:xfrm>
        </p:spPr>
        <p:txBody>
          <a:bodyPr vert="horz" lIns="91440" tIns="45720" rIns="91440" bIns="45720" rtlCol="0" anchor="t">
            <a:normAutofit/>
          </a:bodyPr>
          <a:lstStyle/>
          <a:p>
            <a:pPr marL="0" indent="0">
              <a:buNone/>
            </a:pPr>
            <a:r>
              <a:rPr lang="pl-PL">
                <a:ea typeface="+mn-lt"/>
                <a:cs typeface="+mn-lt"/>
              </a:rPr>
              <a:t>To brak albo słabość logowania, monitoringu i alertowania, przez co ataki są późno wykrywane albo w ogóle nie są zauważane. Zagrożenie polega na tym, że zdarzenia bezpieczeństwa nie trafiają do logów, logi są niepełne, można je modyfikować, albo nikt ich aktywnie nie obserwuje.</a:t>
            </a:r>
          </a:p>
        </p:txBody>
      </p:sp>
    </p:spTree>
    <p:extLst>
      <p:ext uri="{BB962C8B-B14F-4D97-AF65-F5344CB8AC3E}">
        <p14:creationId xmlns:p14="http://schemas.microsoft.com/office/powerpoint/2010/main" val="25883292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FC48D-FAF6-C7CD-2AE8-D7FEF8E02B9A}"/>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75257D11-F694-E671-5E6D-8377B71A1DAC}"/>
              </a:ext>
            </a:extLst>
          </p:cNvPr>
          <p:cNvSpPr>
            <a:spLocks noGrp="1"/>
          </p:cNvSpPr>
          <p:nvPr>
            <p:ph type="title"/>
          </p:nvPr>
        </p:nvSpPr>
        <p:spPr>
          <a:xfrm>
            <a:off x="838200" y="365125"/>
            <a:ext cx="10515600" cy="685860"/>
          </a:xfrm>
        </p:spPr>
        <p:txBody>
          <a:bodyPr/>
          <a:lstStyle/>
          <a:p>
            <a:r>
              <a:rPr lang="pl-PL" sz="2800">
                <a:latin typeface="Aptos"/>
              </a:rPr>
              <a:t>Security Logging and Alerting Failures (5 CWEs)</a:t>
            </a:r>
          </a:p>
        </p:txBody>
      </p:sp>
      <p:sp>
        <p:nvSpPr>
          <p:cNvPr id="3" name="Symbol zastępczy zawartości 2">
            <a:extLst>
              <a:ext uri="{FF2B5EF4-FFF2-40B4-BE49-F238E27FC236}">
                <a16:creationId xmlns:a16="http://schemas.microsoft.com/office/drawing/2014/main" id="{56E94C06-A04A-E6AA-CB25-9CB8E475CFAD}"/>
              </a:ext>
            </a:extLst>
          </p:cNvPr>
          <p:cNvSpPr>
            <a:spLocks noGrp="1"/>
          </p:cNvSpPr>
          <p:nvPr>
            <p:ph idx="1"/>
          </p:nvPr>
        </p:nvSpPr>
        <p:spPr>
          <a:xfrm>
            <a:off x="838200" y="1214144"/>
            <a:ext cx="10515600" cy="4962819"/>
          </a:xfrm>
        </p:spPr>
        <p:txBody>
          <a:bodyPr vert="horz" lIns="91440" tIns="45720" rIns="91440" bIns="45720" rtlCol="0" anchor="t">
            <a:normAutofit/>
          </a:bodyPr>
          <a:lstStyle/>
          <a:p>
            <a:pPr>
              <a:buFont typeface="Arial"/>
              <a:buChar char="•"/>
            </a:pPr>
            <a:r>
              <a:rPr lang="pl-PL" b="1">
                <a:ea typeface="+mn-lt"/>
                <a:cs typeface="+mn-lt"/>
              </a:rPr>
              <a:t>CWE-117 (</a:t>
            </a:r>
            <a:r>
              <a:rPr lang="pl-PL" b="1">
                <a:solidFill>
                  <a:srgbClr val="000000"/>
                </a:solidFill>
                <a:latin typeface="Aptos"/>
                <a:ea typeface="Verdana"/>
                <a:cs typeface="+mn-lt"/>
              </a:rPr>
              <a:t>Improper Output Neutralization for Logs</a:t>
            </a:r>
            <a:r>
              <a:rPr lang="pl-PL" b="1">
                <a:ea typeface="+mn-lt"/>
                <a:cs typeface="+mn-lt"/>
              </a:rPr>
              <a:t>)</a:t>
            </a:r>
            <a:r>
              <a:rPr lang="pl-PL">
                <a:ea typeface="+mn-lt"/>
                <a:cs typeface="+mn-lt"/>
              </a:rPr>
              <a:t> — Atakujący może manipulować logami, wstrzykując do nich dane. </a:t>
            </a:r>
            <a:endParaRPr lang="pl-PL"/>
          </a:p>
          <a:p>
            <a:pPr>
              <a:buFont typeface="Arial"/>
              <a:buChar char="•"/>
            </a:pPr>
            <a:r>
              <a:rPr lang="pl-PL" b="1">
                <a:ea typeface="+mn-lt"/>
                <a:cs typeface="+mn-lt"/>
              </a:rPr>
              <a:t>CWE-223 (Omission of Security-relevent Information)</a:t>
            </a:r>
            <a:r>
              <a:rPr lang="pl-PL">
                <a:ea typeface="+mn-lt"/>
                <a:cs typeface="+mn-lt"/>
              </a:rPr>
              <a:t> —Brak logów/informacji potrzebnych do identyfikacji ataku lub oceny bezpieczeństwa działania.</a:t>
            </a:r>
          </a:p>
          <a:p>
            <a:pPr>
              <a:buFont typeface="Arial"/>
              <a:buChar char="•"/>
            </a:pPr>
            <a:r>
              <a:rPr lang="pl-PL" b="1">
                <a:solidFill>
                  <a:srgbClr val="000000"/>
                </a:solidFill>
                <a:latin typeface="Aptos" panose="020B0004020202020204"/>
                <a:ea typeface="Verdana"/>
                <a:cs typeface="+mn-lt"/>
              </a:rPr>
              <a:t>CWE-221 (Information Loss or Omission)</a:t>
            </a:r>
            <a:r>
              <a:rPr lang="pl-PL">
                <a:solidFill>
                  <a:srgbClr val="000000"/>
                </a:solidFill>
                <a:latin typeface="Aptos" panose="020B0004020202020204"/>
                <a:ea typeface="Verdana"/>
                <a:cs typeface="+mn-lt"/>
              </a:rPr>
              <a:t> - </a:t>
            </a:r>
            <a:r>
              <a:rPr lang="pl-PL">
                <a:solidFill>
                  <a:srgbClr val="000000"/>
                </a:solidFill>
                <a:ea typeface="+mn-lt"/>
                <a:cs typeface="+mn-lt"/>
              </a:rPr>
              <a:t>Brak lub błędne logowanie danych bezpieczeństwa, co utrudnia decyzje i analizę.</a:t>
            </a:r>
            <a:endParaRPr lang="pl-PL" dirty="0">
              <a:solidFill>
                <a:srgbClr val="000000"/>
              </a:solidFill>
              <a:ea typeface="+mn-lt"/>
              <a:cs typeface="+mn-lt"/>
            </a:endParaRPr>
          </a:p>
          <a:p>
            <a:pPr>
              <a:buFont typeface="Arial"/>
              <a:buChar char="•"/>
            </a:pPr>
            <a:r>
              <a:rPr lang="pl-PL" b="1">
                <a:ea typeface="+mn-lt"/>
                <a:cs typeface="+mn-lt"/>
              </a:rPr>
              <a:t>CWE-532 (</a:t>
            </a:r>
            <a:r>
              <a:rPr lang="pl-PL" b="1">
                <a:solidFill>
                  <a:srgbClr val="000000"/>
                </a:solidFill>
                <a:latin typeface="Aptos"/>
                <a:ea typeface="Roboto"/>
                <a:cs typeface="Roboto"/>
              </a:rPr>
              <a:t>Insertion of Sensitive Information into Log File</a:t>
            </a:r>
            <a:r>
              <a:rPr lang="pl-PL" b="1">
                <a:ea typeface="+mn-lt"/>
                <a:cs typeface="+mn-lt"/>
              </a:rPr>
              <a:t>)</a:t>
            </a:r>
            <a:r>
              <a:rPr lang="pl-PL">
                <a:ea typeface="+mn-lt"/>
                <a:cs typeface="+mn-lt"/>
              </a:rPr>
              <a:t> — W logach zapisywane są wrażliwe dane. </a:t>
            </a:r>
            <a:endParaRPr lang="pl-PL"/>
          </a:p>
          <a:p>
            <a:pPr>
              <a:buFont typeface="Arial"/>
              <a:buChar char="•"/>
            </a:pPr>
            <a:r>
              <a:rPr lang="pl-PL" b="1">
                <a:ea typeface="+mn-lt"/>
                <a:cs typeface="+mn-lt"/>
              </a:rPr>
              <a:t>CWE-778 (Insufficient Logging)</a:t>
            </a:r>
            <a:r>
              <a:rPr lang="pl-PL">
                <a:ea typeface="+mn-lt"/>
                <a:cs typeface="+mn-lt"/>
              </a:rPr>
              <a:t> — Logowanie jest niewystarczające do wykrycia incydentów. </a:t>
            </a:r>
            <a:endParaRPr lang="pl-PL"/>
          </a:p>
          <a:p>
            <a:pPr marL="0" indent="0">
              <a:buNone/>
            </a:pPr>
            <a:endParaRPr lang="pl-PL"/>
          </a:p>
        </p:txBody>
      </p:sp>
    </p:spTree>
    <p:extLst>
      <p:ext uri="{BB962C8B-B14F-4D97-AF65-F5344CB8AC3E}">
        <p14:creationId xmlns:p14="http://schemas.microsoft.com/office/powerpoint/2010/main" val="35905782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F2113-8A38-BF46-9C76-55EB27AA577B}"/>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D0B56D2B-D264-1BE1-BDF0-5CBEF05DCF35}"/>
              </a:ext>
            </a:extLst>
          </p:cNvPr>
          <p:cNvSpPr>
            <a:spLocks noGrp="1"/>
          </p:cNvSpPr>
          <p:nvPr>
            <p:ph type="title"/>
          </p:nvPr>
        </p:nvSpPr>
        <p:spPr>
          <a:xfrm>
            <a:off x="838200" y="365125"/>
            <a:ext cx="10515600" cy="685860"/>
          </a:xfrm>
        </p:spPr>
        <p:txBody>
          <a:bodyPr/>
          <a:lstStyle/>
          <a:p>
            <a:r>
              <a:rPr lang="pl-PL" sz="2800">
                <a:latin typeface="Aptos"/>
              </a:rPr>
              <a:t>Security Logging and Alerting Failures</a:t>
            </a:r>
          </a:p>
        </p:txBody>
      </p:sp>
      <p:sp>
        <p:nvSpPr>
          <p:cNvPr id="3" name="Symbol zastępczy zawartości 2">
            <a:extLst>
              <a:ext uri="{FF2B5EF4-FFF2-40B4-BE49-F238E27FC236}">
                <a16:creationId xmlns:a16="http://schemas.microsoft.com/office/drawing/2014/main" id="{536FB1F8-7764-1C59-FA0C-B144BEDB5D68}"/>
              </a:ext>
            </a:extLst>
          </p:cNvPr>
          <p:cNvSpPr>
            <a:spLocks noGrp="1"/>
          </p:cNvSpPr>
          <p:nvPr>
            <p:ph idx="1"/>
          </p:nvPr>
        </p:nvSpPr>
        <p:spPr>
          <a:xfrm>
            <a:off x="838200" y="1214144"/>
            <a:ext cx="10515600" cy="4962819"/>
          </a:xfrm>
        </p:spPr>
        <p:txBody>
          <a:bodyPr vert="horz" lIns="91440" tIns="45720" rIns="91440" bIns="45720" rtlCol="0" anchor="t">
            <a:normAutofit fontScale="77500" lnSpcReduction="20000"/>
          </a:bodyPr>
          <a:lstStyle/>
          <a:p>
            <a:r>
              <a:rPr lang="pl-PL">
                <a:ea typeface="+mn-lt"/>
                <a:cs typeface="+mn-lt"/>
              </a:rPr>
              <a:t>Logowanie zdarzeń bezpieczeństwa z kontekstem użytkownika</a:t>
            </a:r>
            <a:br>
              <a:rPr lang="pl-PL">
                <a:ea typeface="+mn-lt"/>
                <a:cs typeface="+mn-lt"/>
              </a:rPr>
            </a:br>
            <a:r>
              <a:rPr lang="pl-PL">
                <a:ea typeface="+mn-lt"/>
                <a:cs typeface="+mn-lt"/>
              </a:rPr>
              <a:t>Wszystkie błędy logowania, kontroli dostępu i walidacji po stronie serwera powinny być logowane z wystarczającym kontekstem użytkownika. Logi muszą być przechowywane na tyle długo, aby możliwa była analiza kryminalistyczna po opóźnieniu zdarzeń.</a:t>
            </a:r>
          </a:p>
          <a:p>
            <a:r>
              <a:rPr lang="pl-PL">
                <a:ea typeface="+mn-lt"/>
                <a:cs typeface="+mn-lt"/>
              </a:rPr>
              <a:t>Alertowanie przy podejrzanych zachowaniach</a:t>
            </a:r>
            <a:br>
              <a:rPr lang="pl-PL">
                <a:ea typeface="+mn-lt"/>
                <a:cs typeface="+mn-lt"/>
              </a:rPr>
            </a:br>
            <a:r>
              <a:rPr lang="pl-PL">
                <a:ea typeface="+mn-lt"/>
                <a:cs typeface="+mn-lt"/>
              </a:rPr>
              <a:t>System powinien generować alerty, jeśli aplikacja lub użytkownicy zachowują się nietypowo. Programiści powinni znać wytyczne dotyczące takich alertów, a jeśli to możliwe, warto korzystać z gotowych systemów do monitorowania i powiadamiania.</a:t>
            </a:r>
          </a:p>
          <a:p>
            <a:r>
              <a:rPr lang="pl-PL">
                <a:ea typeface="+mn-lt"/>
                <a:cs typeface="+mn-lt"/>
              </a:rPr>
              <a:t>Skuteczne przypadki użycia monitorowania i alertowania</a:t>
            </a:r>
            <a:br>
              <a:rPr lang="pl-PL">
                <a:ea typeface="+mn-lt"/>
                <a:cs typeface="+mn-lt"/>
              </a:rPr>
            </a:br>
            <a:r>
              <a:rPr lang="pl-PL">
                <a:ea typeface="+mn-lt"/>
                <a:cs typeface="+mn-lt"/>
              </a:rPr>
              <a:t>DevSecOps i zespoły bezpieczeństwa powinny opracować playbooki i scenariusze, które pozwalają wykrywać i reagować na podejrzane działania szybko i skutecznie.</a:t>
            </a:r>
          </a:p>
          <a:p>
            <a:r>
              <a:rPr lang="pl-PL">
                <a:ea typeface="+mn-lt"/>
                <a:cs typeface="+mn-lt"/>
              </a:rPr>
              <a:t>Wykorzystanie „honeytokens”</a:t>
            </a:r>
            <a:br>
              <a:rPr lang="pl-PL">
                <a:ea typeface="+mn-lt"/>
                <a:cs typeface="+mn-lt"/>
              </a:rPr>
            </a:br>
            <a:r>
              <a:rPr lang="pl-PL">
                <a:ea typeface="+mn-lt"/>
                <a:cs typeface="+mn-lt"/>
              </a:rPr>
              <a:t>Wstawienie pułapek dla atakujących, np. w bazie danych czy fałszywych kont użytkowników, generuje logi przy próbie ich użycia. Ponieważ prawdziwi użytkownicy ich nie używają, alerty praktycznie nie mają fałszywych pozytywów.</a:t>
            </a:r>
          </a:p>
        </p:txBody>
      </p:sp>
    </p:spTree>
    <p:extLst>
      <p:ext uri="{BB962C8B-B14F-4D97-AF65-F5344CB8AC3E}">
        <p14:creationId xmlns:p14="http://schemas.microsoft.com/office/powerpoint/2010/main" val="13838768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1476C85-E602-FDA8-BE62-157B008C84BF}"/>
              </a:ext>
            </a:extLst>
          </p:cNvPr>
          <p:cNvSpPr>
            <a:spLocks noGrp="1"/>
          </p:cNvSpPr>
          <p:nvPr>
            <p:ph type="ctrTitle"/>
          </p:nvPr>
        </p:nvSpPr>
        <p:spPr>
          <a:xfrm>
            <a:off x="1524000" y="1031649"/>
            <a:ext cx="9144000" cy="2387600"/>
          </a:xfrm>
        </p:spPr>
        <p:txBody>
          <a:bodyPr>
            <a:normAutofit/>
          </a:bodyPr>
          <a:lstStyle/>
          <a:p>
            <a:r>
              <a:rPr lang="pl-PL" sz="5400">
                <a:latin typeface="Aptos"/>
              </a:rPr>
              <a:t>Mishandling of Exceptional Conditions</a:t>
            </a:r>
          </a:p>
        </p:txBody>
      </p:sp>
      <p:sp>
        <p:nvSpPr>
          <p:cNvPr id="3" name="Symbol zastępczy zawartości 2">
            <a:extLst>
              <a:ext uri="{FF2B5EF4-FFF2-40B4-BE49-F238E27FC236}">
                <a16:creationId xmlns:a16="http://schemas.microsoft.com/office/drawing/2014/main" id="{C5240E10-906C-D8D7-5230-E1EA15C9AF7A}"/>
              </a:ext>
            </a:extLst>
          </p:cNvPr>
          <p:cNvSpPr>
            <a:spLocks noGrp="1"/>
          </p:cNvSpPr>
          <p:nvPr>
            <p:ph type="subTitle" idx="1"/>
          </p:nvPr>
        </p:nvSpPr>
        <p:spPr>
          <a:xfrm>
            <a:off x="1524000" y="3511324"/>
            <a:ext cx="9144000" cy="1655762"/>
          </a:xfrm>
        </p:spPr>
        <p:txBody>
          <a:bodyPr vert="horz" lIns="91440" tIns="45720" rIns="91440" bIns="45720" rtlCol="0" anchor="t">
            <a:normAutofit/>
          </a:bodyPr>
          <a:lstStyle/>
          <a:p>
            <a:pPr marL="0" indent="0">
              <a:buNone/>
            </a:pPr>
            <a:r>
              <a:rPr lang="pl-PL">
                <a:ea typeface="+mn-lt"/>
                <a:cs typeface="+mn-lt"/>
              </a:rPr>
              <a:t>Ta kategoria dotyczy nieprawidłowego obchodzenia się z wyjątkami, błędami i nietypowymi stanami programu. Ryzyko polega na tym, że aplikacja nie wykrywa sytuacji awaryjnej, nie reaguje na nią właściwie albo wpada w stan nieprzewidywalny, co może prowadzić do crashy, wycieków informacji lub obejścia logiki bezpieczeństwa.</a:t>
            </a:r>
          </a:p>
          <a:p>
            <a:pPr marL="0" indent="0">
              <a:buNone/>
            </a:pPr>
            <a:endParaRPr lang="pl-PL"/>
          </a:p>
        </p:txBody>
      </p:sp>
    </p:spTree>
    <p:extLst>
      <p:ext uri="{BB962C8B-B14F-4D97-AF65-F5344CB8AC3E}">
        <p14:creationId xmlns:p14="http://schemas.microsoft.com/office/powerpoint/2010/main" val="13683413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AE204-46D1-7B56-9E49-0A88F48C70E6}"/>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331E03C9-6F1F-2251-3F04-CE19E54423BF}"/>
              </a:ext>
            </a:extLst>
          </p:cNvPr>
          <p:cNvSpPr>
            <a:spLocks noGrp="1"/>
          </p:cNvSpPr>
          <p:nvPr>
            <p:ph type="title"/>
          </p:nvPr>
        </p:nvSpPr>
        <p:spPr>
          <a:xfrm>
            <a:off x="838200" y="365125"/>
            <a:ext cx="10515600" cy="591786"/>
          </a:xfrm>
        </p:spPr>
        <p:txBody>
          <a:bodyPr/>
          <a:lstStyle/>
          <a:p>
            <a:r>
              <a:rPr lang="pl-PL" sz="2800">
                <a:latin typeface="Aptos"/>
              </a:rPr>
              <a:t>Mishandling of Exceptional Conditions (24 CWEs)</a:t>
            </a:r>
          </a:p>
        </p:txBody>
      </p:sp>
      <p:sp>
        <p:nvSpPr>
          <p:cNvPr id="3" name="Symbol zastępczy zawartości 2">
            <a:extLst>
              <a:ext uri="{FF2B5EF4-FFF2-40B4-BE49-F238E27FC236}">
                <a16:creationId xmlns:a16="http://schemas.microsoft.com/office/drawing/2014/main" id="{4F248AC1-B46A-D2D9-0E0D-1FC489419BF2}"/>
              </a:ext>
            </a:extLst>
          </p:cNvPr>
          <p:cNvSpPr>
            <a:spLocks noGrp="1"/>
          </p:cNvSpPr>
          <p:nvPr>
            <p:ph idx="1"/>
          </p:nvPr>
        </p:nvSpPr>
        <p:spPr>
          <a:xfrm>
            <a:off x="838200" y="1073033"/>
            <a:ext cx="10515600" cy="5103930"/>
          </a:xfrm>
        </p:spPr>
        <p:txBody>
          <a:bodyPr vert="horz" lIns="91440" tIns="45720" rIns="91440" bIns="45720" rtlCol="0" anchor="t">
            <a:normAutofit lnSpcReduction="10000"/>
          </a:bodyPr>
          <a:lstStyle/>
          <a:p>
            <a:pPr>
              <a:buFont typeface="Arial"/>
              <a:buChar char="•"/>
            </a:pPr>
            <a:r>
              <a:rPr lang="pl-PL" b="1">
                <a:ea typeface="+mn-lt"/>
                <a:cs typeface="+mn-lt"/>
              </a:rPr>
              <a:t>CWE-209 (Error Message Information Leak)</a:t>
            </a:r>
            <a:r>
              <a:rPr lang="pl-PL">
                <a:ea typeface="+mn-lt"/>
                <a:cs typeface="+mn-lt"/>
              </a:rPr>
              <a:t> — Komunikaty błędów ujawniają zbyt dużo informacji o systemie. </a:t>
            </a:r>
            <a:endParaRPr lang="pl-PL"/>
          </a:p>
          <a:p>
            <a:pPr>
              <a:buFont typeface="Arial"/>
              <a:buChar char="•"/>
            </a:pPr>
            <a:r>
              <a:rPr lang="pl-PL" b="1">
                <a:ea typeface="+mn-lt"/>
                <a:cs typeface="+mn-lt"/>
              </a:rPr>
              <a:t>CWE-391 (Unchecked Error Condition)</a:t>
            </a:r>
            <a:r>
              <a:rPr lang="pl-PL">
                <a:ea typeface="+mn-lt"/>
                <a:cs typeface="+mn-lt"/>
              </a:rPr>
              <a:t> — Błędy nie są sprawdzane ani obsługiwane. </a:t>
            </a:r>
            <a:endParaRPr lang="pl-PL"/>
          </a:p>
          <a:p>
            <a:pPr>
              <a:buFont typeface="Arial"/>
              <a:buChar char="•"/>
            </a:pPr>
            <a:r>
              <a:rPr lang="pl-PL" b="1">
                <a:ea typeface="+mn-lt"/>
                <a:cs typeface="+mn-lt"/>
              </a:rPr>
              <a:t>CWE-476 (NULL Pointer Dereference)</a:t>
            </a:r>
            <a:r>
              <a:rPr lang="pl-PL">
                <a:ea typeface="+mn-lt"/>
                <a:cs typeface="+mn-lt"/>
              </a:rPr>
              <a:t> — Program odwołuje się do pustego wskaźnika, co może prowadzić do crasha. </a:t>
            </a:r>
            <a:endParaRPr lang="pl-PL"/>
          </a:p>
          <a:p>
            <a:pPr>
              <a:buFont typeface="Arial"/>
              <a:buChar char="•"/>
            </a:pPr>
            <a:r>
              <a:rPr lang="pl-PL" b="1">
                <a:ea typeface="+mn-lt"/>
                <a:cs typeface="+mn-lt"/>
              </a:rPr>
              <a:t>CWE-636 (Not Failing Securely)</a:t>
            </a:r>
            <a:r>
              <a:rPr lang="pl-PL">
                <a:ea typeface="+mn-lt"/>
                <a:cs typeface="+mn-lt"/>
              </a:rPr>
              <a:t> — System w razie błędu przechodzi w stan niebezpieczny zamiast bezpiecznego. </a:t>
            </a:r>
            <a:endParaRPr lang="pl-PL"/>
          </a:p>
          <a:p>
            <a:pPr>
              <a:buFont typeface="Arial"/>
              <a:buChar char="•"/>
            </a:pPr>
            <a:r>
              <a:rPr lang="pl-PL" b="1">
                <a:ea typeface="+mn-lt"/>
                <a:cs typeface="+mn-lt"/>
              </a:rPr>
              <a:t>CWE-703 (Improper Handling of Exceptional Conditions)</a:t>
            </a:r>
            <a:r>
              <a:rPr lang="pl-PL">
                <a:ea typeface="+mn-lt"/>
                <a:cs typeface="+mn-lt"/>
              </a:rPr>
              <a:t> — Aplikacja nie radzi sobie poprawnie z wyjątkami. </a:t>
            </a:r>
            <a:endParaRPr lang="pl-PL"/>
          </a:p>
          <a:p>
            <a:pPr>
              <a:buFont typeface="Arial"/>
              <a:buChar char="•"/>
            </a:pPr>
            <a:r>
              <a:rPr lang="pl-PL" b="1">
                <a:ea typeface="+mn-lt"/>
                <a:cs typeface="+mn-lt"/>
              </a:rPr>
              <a:t>CWE-755 (Improper Handling of Exceptional Conditions)</a:t>
            </a:r>
            <a:r>
              <a:rPr lang="pl-PL">
                <a:ea typeface="+mn-lt"/>
                <a:cs typeface="+mn-lt"/>
              </a:rPr>
              <a:t> — Ogólna kategoria błędów w obsłudze sytuacji wyjątkowych.</a:t>
            </a:r>
            <a:endParaRPr lang="pl-PL"/>
          </a:p>
          <a:p>
            <a:pPr marL="0" indent="0">
              <a:buNone/>
            </a:pPr>
            <a:endParaRPr lang="pl-PL">
              <a:ea typeface="+mn-lt"/>
              <a:cs typeface="+mn-lt"/>
            </a:endParaRPr>
          </a:p>
        </p:txBody>
      </p:sp>
    </p:spTree>
    <p:extLst>
      <p:ext uri="{BB962C8B-B14F-4D97-AF65-F5344CB8AC3E}">
        <p14:creationId xmlns:p14="http://schemas.microsoft.com/office/powerpoint/2010/main" val="3231111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2D6C6-EDFC-E227-92E1-053B42F60896}"/>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406809BF-B3D1-5BD2-DF61-4D4BE19869B7}"/>
              </a:ext>
            </a:extLst>
          </p:cNvPr>
          <p:cNvSpPr>
            <a:spLocks noGrp="1"/>
          </p:cNvSpPr>
          <p:nvPr>
            <p:ph type="title"/>
          </p:nvPr>
        </p:nvSpPr>
        <p:spPr>
          <a:xfrm>
            <a:off x="838200" y="365125"/>
            <a:ext cx="10515600" cy="591786"/>
          </a:xfrm>
        </p:spPr>
        <p:txBody>
          <a:bodyPr/>
          <a:lstStyle/>
          <a:p>
            <a:r>
              <a:rPr lang="pl-PL" sz="2800">
                <a:latin typeface="Aptos"/>
              </a:rPr>
              <a:t>Mishandling of Exceptional Conditions</a:t>
            </a:r>
          </a:p>
        </p:txBody>
      </p:sp>
      <p:sp>
        <p:nvSpPr>
          <p:cNvPr id="3" name="Symbol zastępczy zawartości 2">
            <a:extLst>
              <a:ext uri="{FF2B5EF4-FFF2-40B4-BE49-F238E27FC236}">
                <a16:creationId xmlns:a16="http://schemas.microsoft.com/office/drawing/2014/main" id="{F655B565-9989-8AA5-1BB4-D10EFD4F4267}"/>
              </a:ext>
            </a:extLst>
          </p:cNvPr>
          <p:cNvSpPr>
            <a:spLocks noGrp="1"/>
          </p:cNvSpPr>
          <p:nvPr>
            <p:ph idx="1"/>
          </p:nvPr>
        </p:nvSpPr>
        <p:spPr>
          <a:xfrm>
            <a:off x="838200" y="1073033"/>
            <a:ext cx="10515600" cy="5103930"/>
          </a:xfrm>
        </p:spPr>
        <p:txBody>
          <a:bodyPr vert="horz" lIns="91440" tIns="45720" rIns="91440" bIns="45720" rtlCol="0" anchor="t">
            <a:normAutofit fontScale="85000" lnSpcReduction="20000"/>
          </a:bodyPr>
          <a:lstStyle/>
          <a:p>
            <a:r>
              <a:rPr lang="pl-PL">
                <a:ea typeface="+mn-lt"/>
                <a:cs typeface="+mn-lt"/>
              </a:rPr>
              <a:t>Planowanie obsługi wyjątków i przewidywanie najgorszego</a:t>
            </a:r>
            <a:br>
              <a:rPr lang="pl-PL">
                <a:ea typeface="+mn-lt"/>
                <a:cs typeface="+mn-lt"/>
              </a:rPr>
            </a:br>
            <a:r>
              <a:rPr lang="pl-PL">
                <a:ea typeface="+mn-lt"/>
                <a:cs typeface="+mn-lt"/>
              </a:rPr>
              <a:t>Aplikacja powinna przewidywać potencjalne błędy i planować ich obsługę z wyprzedzeniem. Dzięki temu system nie zostaje zaskoczony nieprzewidzianymi sytuacjami, co zmniejsza ryzyko awarii lub podatności.</a:t>
            </a:r>
          </a:p>
          <a:p>
            <a:r>
              <a:rPr lang="pl-PL">
                <a:ea typeface="+mn-lt"/>
                <a:cs typeface="+mn-lt"/>
              </a:rPr>
              <a:t>Globalny handler wyjątków</a:t>
            </a:r>
            <a:br>
              <a:rPr lang="pl-PL">
                <a:ea typeface="+mn-lt"/>
                <a:cs typeface="+mn-lt"/>
              </a:rPr>
            </a:br>
            <a:r>
              <a:rPr lang="pl-PL">
                <a:ea typeface="+mn-lt"/>
                <a:cs typeface="+mn-lt"/>
              </a:rPr>
              <a:t>Warto mieć centralny mechanizm obsługi wyjątków, który przechwyci wszelkie nieprzewidziane błędy. Zapewnia to, że żaden błąd nie pozostanie niezarejestrowany i że użytkownik otrzyma spójny komunikat o problemie.</a:t>
            </a:r>
          </a:p>
          <a:p>
            <a:r>
              <a:rPr lang="pl-PL">
                <a:ea typeface="+mn-lt"/>
                <a:cs typeface="+mn-lt"/>
              </a:rPr>
              <a:t>Monitoring i obserwowalność powtarzających się błędów</a:t>
            </a:r>
            <a:br>
              <a:rPr lang="pl-PL">
                <a:ea typeface="+mn-lt"/>
                <a:cs typeface="+mn-lt"/>
              </a:rPr>
            </a:br>
            <a:r>
              <a:rPr lang="pl-PL">
                <a:ea typeface="+mn-lt"/>
                <a:cs typeface="+mn-lt"/>
              </a:rPr>
              <a:t>Narzędzia monitorujące powinny wykrywać powtarzające się błędy lub wzorce wskazujące na atak, np. boty wykorzystujące słabe punkty w obsłudze wyjątków. System może wtedy uruchomić odpowiedź obronną lub blokadę ataku.</a:t>
            </a:r>
          </a:p>
          <a:p>
            <a:r>
              <a:rPr lang="pl-PL">
                <a:ea typeface="+mn-lt"/>
                <a:cs typeface="+mn-lt"/>
              </a:rPr>
              <a:t>Ograniczenia i limitowanie zasobów</a:t>
            </a:r>
            <a:br>
              <a:rPr lang="pl-PL">
                <a:ea typeface="+mn-lt"/>
                <a:cs typeface="+mn-lt"/>
              </a:rPr>
            </a:br>
            <a:r>
              <a:rPr lang="pl-PL">
                <a:ea typeface="+mn-lt"/>
                <a:cs typeface="+mn-lt"/>
              </a:rPr>
              <a:t>Stosowanie rate limiting, limitów zasobów, throttlingu i innych ograniczeń zmniejsza prawdopodobieństwo wystąpienia błędów z powodu nadmiernego obciążenia. To chroni przed DoS, atakami brute-force oraz nadmiernymi kosztami w chmurze.</a:t>
            </a:r>
          </a:p>
        </p:txBody>
      </p:sp>
    </p:spTree>
    <p:extLst>
      <p:ext uri="{BB962C8B-B14F-4D97-AF65-F5344CB8AC3E}">
        <p14:creationId xmlns:p14="http://schemas.microsoft.com/office/powerpoint/2010/main" val="321506038"/>
      </p:ext>
    </p:extLst>
  </p:cSld>
  <p:clrMapOvr>
    <a:masterClrMapping/>
  </p:clrMapOvr>
</p:sld>
</file>

<file path=ppt/theme/theme1.xml><?xml version="1.0" encoding="utf-8"?>
<a:theme xmlns:a="http://schemas.openxmlformats.org/drawingml/2006/main" name="Motyw pakietu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Panoramiczny</PresentationFormat>
  <Slides>35</Slides>
  <Notes>0</Notes>
  <HiddenSlides>0</HiddenSlides>
  <ScaleCrop>false</ScaleCrop>
  <HeadingPairs>
    <vt:vector size="4" baseType="variant">
      <vt:variant>
        <vt:lpstr>Motyw</vt:lpstr>
      </vt:variant>
      <vt:variant>
        <vt:i4>1</vt:i4>
      </vt:variant>
      <vt:variant>
        <vt:lpstr>Tytuły slajdów</vt:lpstr>
      </vt:variant>
      <vt:variant>
        <vt:i4>35</vt:i4>
      </vt:variant>
    </vt:vector>
  </HeadingPairs>
  <TitlesOfParts>
    <vt:vector size="36" baseType="lpstr">
      <vt:lpstr>Motyw pakietu Office</vt:lpstr>
      <vt:lpstr>Zagrożenia dla aplikacji webowych OWASP Top 10</vt:lpstr>
      <vt:lpstr>Czym jest OWASP?</vt:lpstr>
      <vt:lpstr>Czym jest OWASP Top 10?</vt:lpstr>
      <vt:lpstr>Prezentacja programu PowerPoint</vt:lpstr>
      <vt:lpstr>OWASP Top 10 2025</vt:lpstr>
      <vt:lpstr>Broken Access Control</vt:lpstr>
      <vt:lpstr>Broken Access Control (40 CWEs)</vt:lpstr>
      <vt:lpstr>Broken Access Control</vt:lpstr>
      <vt:lpstr>Security Misconfiguration</vt:lpstr>
      <vt:lpstr>Security Misconfiguration (16 CWEs)</vt:lpstr>
      <vt:lpstr>Security Misconfiguration</vt:lpstr>
      <vt:lpstr>Software Supply Chain Failures</vt:lpstr>
      <vt:lpstr>Software Supply Chain Failures (6 CWEs)</vt:lpstr>
      <vt:lpstr>Software Supply Chain Failures</vt:lpstr>
      <vt:lpstr>Cryptographic Failures</vt:lpstr>
      <vt:lpstr>Cryptographic Failures (32 CWEs)</vt:lpstr>
      <vt:lpstr>Cryptographic Failures</vt:lpstr>
      <vt:lpstr>Injection</vt:lpstr>
      <vt:lpstr>Injection (37 CWEs)</vt:lpstr>
      <vt:lpstr>Injection</vt:lpstr>
      <vt:lpstr>Insecure Design</vt:lpstr>
      <vt:lpstr>Insecure Design (33 CWEs)</vt:lpstr>
      <vt:lpstr>Insecure Design</vt:lpstr>
      <vt:lpstr>Authentication Failures</vt:lpstr>
      <vt:lpstr>Authentication Failures (36 CWEs)</vt:lpstr>
      <vt:lpstr>Authentication Failures</vt:lpstr>
      <vt:lpstr>Software or Data Integrity Failures</vt:lpstr>
      <vt:lpstr>Software or Data Integrity Failures (14 CWEs)</vt:lpstr>
      <vt:lpstr>Software or Data Integrity Failures</vt:lpstr>
      <vt:lpstr>Security Logging and Alerting Failures</vt:lpstr>
      <vt:lpstr>Security Logging and Alerting Failures (5 CWEs)</vt:lpstr>
      <vt:lpstr>Security Logging and Alerting Failures</vt:lpstr>
      <vt:lpstr>Mishandling of Exceptional Conditions</vt:lpstr>
      <vt:lpstr>Mishandling of Exceptional Conditions (24 CWEs)</vt:lpstr>
      <vt:lpstr>Mishandling of Exceptional Conditions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152</cp:revision>
  <dcterms:created xsi:type="dcterms:W3CDTF">2026-03-31T11:15:19Z</dcterms:created>
  <dcterms:modified xsi:type="dcterms:W3CDTF">2026-04-01T13:34:42Z</dcterms:modified>
</cp:coreProperties>
</file>